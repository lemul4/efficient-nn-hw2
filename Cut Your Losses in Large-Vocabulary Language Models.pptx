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5" r:id="rId19"/>
    <p:sldId id="276" r:id="rId20"/>
    <p:sldId id="277" r:id="rId21"/>
    <p:sldId id="279" r:id="rId22"/>
    <p:sldId id="280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4936" autoAdjust="0"/>
  </p:normalViewPr>
  <p:slideViewPr>
    <p:cSldViewPr snapToGrid="0">
      <p:cViewPr varScale="1">
        <p:scale>
          <a:sx n="63" d="100"/>
          <a:sy n="63" d="100"/>
        </p:scale>
        <p:origin x="142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Logits</c:v>
          </c:tx>
          <c:spPr>
            <a:solidFill>
              <a:srgbClr val="5973AD"/>
            </a:solidFill>
          </c:spPr>
          <c:invertIfNegative val="0"/>
          <c:dPt>
            <c:idx val="3"/>
            <c:invertIfNegative val="0"/>
            <c:bubble3D val="0"/>
            <c:spPr>
              <a:solidFill>
                <a:srgbClr val="008C7B"/>
              </a:solidFill>
            </c:spPr>
            <c:extLst>
              <c:ext xmlns:c16="http://schemas.microsoft.com/office/drawing/2014/chart" uri="{C3380CC4-5D6E-409C-BE32-E72D297353CC}">
                <c16:uniqueId val="{00000001-CEE4-48ED-A31D-82CEECCFF45F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solidFill>
                      <a:srgbClr val="152F3C"/>
                    </a:solidFill>
                    <a:latin typeface="DejaVu Sans"/>
                    <a:ea typeface="DejaVu Sans"/>
                    <a:cs typeface="DejaVu San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море</c:v>
              </c:pt>
              <c:pt idx="1">
                <c:v>бегать</c:v>
              </c:pt>
              <c:pt idx="2">
                <c:v>кофе</c:v>
              </c:pt>
              <c:pt idx="3">
                <c:v>чай</c:v>
              </c:pt>
              <c:pt idx="4">
                <c:v>воду</c:v>
              </c:pt>
            </c:strLit>
          </c:cat>
          <c:val>
            <c:numLit>
              <c:formatCode>0</c:formatCode>
              <c:ptCount val="5"/>
              <c:pt idx="0">
                <c:v>0.4</c:v>
              </c:pt>
              <c:pt idx="1">
                <c:v>-1</c:v>
              </c:pt>
              <c:pt idx="2">
                <c:v>2.1</c:v>
              </c:pt>
              <c:pt idx="3">
                <c:v>4</c:v>
              </c:pt>
              <c:pt idx="4">
                <c:v>1.6</c:v>
              </c:pt>
            </c:numLit>
          </c:val>
          <c:extLst>
            <c:ext xmlns:c16="http://schemas.microsoft.com/office/drawing/2014/chart" uri="{C3380CC4-5D6E-409C-BE32-E72D297353CC}">
              <c16:uniqueId val="{00000002-CEE4-48ED-A31D-82CEECCFF45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9525">
            <a:solidFill>
              <a:srgbClr val="D5DAD8"/>
            </a:solidFill>
          </a:ln>
        </c:spPr>
        <c:txPr>
          <a:bodyPr anchorCtr="1"/>
          <a:lstStyle/>
          <a:p>
            <a:pPr>
              <a:defRPr sz="1725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endParaRPr lang="ru-RU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5"/>
          <c:min val="-2"/>
        </c:scaling>
        <c:delete val="0"/>
        <c:axPos val="b"/>
        <c:majorGridlines>
          <c:spPr>
            <a:ln w="6668">
              <a:solidFill>
                <a:srgbClr val="D5DAD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575">
                    <a:solidFill>
                      <a:srgbClr val="566974"/>
                    </a:solidFill>
                    <a:latin typeface="DejaVu Sans"/>
                    <a:ea typeface="DejaVu Sans"/>
                    <a:cs typeface="DejaVu Sans"/>
                  </a:rPr>
                  <a:t>Logit: </a:t>
                </a:r>
                <a:r>
                  <a:rPr lang="ru-RU" sz="1575">
                    <a:solidFill>
                      <a:srgbClr val="566974"/>
                    </a:solidFill>
                    <a:latin typeface="DejaVu Sans"/>
                    <a:ea typeface="DejaVu Sans"/>
                    <a:cs typeface="DejaVu Sans"/>
                  </a:rPr>
                  <a:t>оценка до </a:t>
                </a:r>
                <a:r>
                  <a:rPr lang="en-US" sz="1575">
                    <a:solidFill>
                      <a:srgbClr val="566974"/>
                    </a:solidFill>
                    <a:latin typeface="DejaVu Sans"/>
                    <a:ea typeface="DejaVu Sans"/>
                    <a:cs typeface="DejaVu Sans"/>
                  </a:rPr>
                  <a:t>softmax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5DAD8"/>
            </a:solidFill>
          </a:ln>
        </c:spPr>
        <c:txPr>
          <a:bodyPr anchorCtr="1"/>
          <a:lstStyle/>
          <a:p>
            <a:pPr>
              <a:defRPr sz="1425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endParaRPr lang="ru-RU"/>
          </a:p>
        </c:txPr>
        <c:crossAx val="48650112"/>
        <c:crossesAt val="0"/>
        <c:crossBetween val="between"/>
        <c:majorUnit val="1"/>
      </c:valAx>
      <c:spPr>
        <a:solidFill>
          <a:srgbClr val="F7F5E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7F5EF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PyTorch</c:v>
          </c:tx>
          <c:spPr>
            <a:ln w="38100">
              <a:solidFill>
                <a:srgbClr val="DE6C47"/>
              </a:solidFill>
            </a:ln>
          </c:spPr>
          <c:marker>
            <c:symbol val="circle"/>
            <c:size val="7"/>
            <c:spPr>
              <a:solidFill>
                <a:srgbClr val="DE6C47"/>
              </a:solidFill>
            </c:spPr>
          </c:marker>
          <c:xVal>
            <c:numLit>
              <c:formatCode>General</c:formatCode>
              <c:ptCount val="6"/>
              <c:pt idx="0">
                <c:v>128</c:v>
              </c:pt>
              <c:pt idx="1">
                <c:v>256</c:v>
              </c:pt>
              <c:pt idx="2">
                <c:v>512</c:v>
              </c:pt>
              <c:pt idx="3">
                <c:v>768</c:v>
              </c:pt>
              <c:pt idx="4">
                <c:v>1024</c:v>
              </c:pt>
              <c:pt idx="5">
                <c:v>2048</c:v>
              </c:pt>
            </c:numLit>
          </c:xVal>
          <c:yVal>
            <c:numLit>
              <c:formatCode>0.0</c:formatCode>
              <c:ptCount val="6"/>
              <c:pt idx="0">
                <c:v>0.53400000000000003</c:v>
              </c:pt>
              <c:pt idx="1">
                <c:v>0.71</c:v>
              </c:pt>
              <c:pt idx="2">
                <c:v>1.4239999999999999</c:v>
              </c:pt>
              <c:pt idx="3">
                <c:v>2.133</c:v>
              </c:pt>
              <c:pt idx="4">
                <c:v>2.8420000000000001</c:v>
              </c:pt>
              <c:pt idx="5">
                <c:v>5.6840000000000002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58A2-4039-83CE-70C41D260440}"/>
            </c:ext>
          </c:extLst>
        </c:ser>
        <c:ser>
          <c:idx val="1"/>
          <c:order val="1"/>
          <c:tx>
            <c:v>Triton CCE</c:v>
          </c:tx>
          <c:spPr>
            <a:ln w="38100">
              <a:solidFill>
                <a:srgbClr val="008C7B"/>
              </a:solidFill>
            </a:ln>
          </c:spPr>
          <c:marker>
            <c:symbol val="circle"/>
            <c:size val="8"/>
            <c:spPr>
              <a:solidFill>
                <a:srgbClr val="008C7B"/>
              </a:solidFill>
            </c:spPr>
          </c:marker>
          <c:xVal>
            <c:numLit>
              <c:formatCode>General</c:formatCode>
              <c:ptCount val="6"/>
              <c:pt idx="0">
                <c:v>128</c:v>
              </c:pt>
              <c:pt idx="1">
                <c:v>256</c:v>
              </c:pt>
              <c:pt idx="2">
                <c:v>512</c:v>
              </c:pt>
              <c:pt idx="3">
                <c:v>768</c:v>
              </c:pt>
              <c:pt idx="4">
                <c:v>1024</c:v>
              </c:pt>
              <c:pt idx="5">
                <c:v>2048</c:v>
              </c:pt>
            </c:numLit>
          </c:xVal>
          <c:yVal>
            <c:numLit>
              <c:formatCode>0.0</c:formatCode>
              <c:ptCount val="6"/>
              <c:pt idx="0">
                <c:v>0.53800000000000003</c:v>
              </c:pt>
              <c:pt idx="1">
                <c:v>0.53800000000000003</c:v>
              </c:pt>
              <c:pt idx="2">
                <c:v>0.53900000000000003</c:v>
              </c:pt>
              <c:pt idx="3">
                <c:v>0.54</c:v>
              </c:pt>
              <c:pt idx="4">
                <c:v>0.54200000000000004</c:v>
              </c:pt>
              <c:pt idx="5">
                <c:v>0.54500000000000004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58A2-4039-83CE-70C41D260440}"/>
            </c:ext>
          </c:extLst>
        </c:ser>
        <c:ser>
          <c:idx val="2"/>
          <c:order val="2"/>
          <c:tx>
            <c:v>PyTorch chunked</c:v>
          </c:tx>
          <c:spPr>
            <a:ln w="23813">
              <a:solidFill>
                <a:srgbClr val="5973AD"/>
              </a:solidFill>
              <a:prstDash val="dash"/>
            </a:ln>
          </c:spPr>
          <c:marker>
            <c:symbol val="diamond"/>
            <c:size val="6"/>
            <c:spPr>
              <a:solidFill>
                <a:srgbClr val="5973AD"/>
              </a:solidFill>
            </c:spPr>
          </c:marker>
          <c:xVal>
            <c:numLit>
              <c:formatCode>General</c:formatCode>
              <c:ptCount val="6"/>
              <c:pt idx="0">
                <c:v>128</c:v>
              </c:pt>
              <c:pt idx="1">
                <c:v>256</c:v>
              </c:pt>
              <c:pt idx="2">
                <c:v>512</c:v>
              </c:pt>
              <c:pt idx="3">
                <c:v>768</c:v>
              </c:pt>
              <c:pt idx="4">
                <c:v>1024</c:v>
              </c:pt>
              <c:pt idx="5">
                <c:v>2048</c:v>
              </c:pt>
            </c:numLit>
          </c:xVal>
          <c:yVal>
            <c:numLit>
              <c:formatCode>0.0</c:formatCode>
              <c:ptCount val="6"/>
              <c:pt idx="0">
                <c:v>0.53500000000000003</c:v>
              </c:pt>
              <c:pt idx="1">
                <c:v>0.53500000000000003</c:v>
              </c:pt>
              <c:pt idx="2">
                <c:v>0.53600000000000003</c:v>
              </c:pt>
              <c:pt idx="3">
                <c:v>0.53700000000000003</c:v>
              </c:pt>
              <c:pt idx="4">
                <c:v>0.53700000000000003</c:v>
              </c:pt>
              <c:pt idx="5">
                <c:v>0.53900000000000003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2-58A2-4039-83CE-70C41D2604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w="6668">
              <a:solidFill>
                <a:srgbClr val="D5DAD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425">
                    <a:solidFill>
                      <a:srgbClr val="566974"/>
                    </a:solidFill>
                    <a:latin typeface="DejaVu Sans"/>
                    <a:ea typeface="DejaVu Sans"/>
                    <a:cs typeface="DejaVu Sans"/>
                  </a:rPr>
                  <a:t>GiB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5DAD8"/>
            </a:solidFill>
          </a:ln>
        </c:spPr>
        <c:txPr>
          <a:bodyPr anchorCtr="1"/>
          <a:lstStyle/>
          <a:p>
            <a:pPr>
              <a:defRPr sz="1425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endParaRPr lang="ru-RU"/>
          </a:p>
        </c:txPr>
        <c:crossAx val="48650112"/>
        <c:crosses val="autoZero"/>
        <c:crossBetween val="midCat"/>
        <c:majorUnit val="1"/>
      </c:valAx>
      <c:valAx>
        <c:axId val="48650112"/>
        <c:scaling>
          <c:orientation val="minMax"/>
          <c:max val="2048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ru-RU" sz="1425">
                    <a:solidFill>
                      <a:srgbClr val="566974"/>
                    </a:solidFill>
                    <a:latin typeface="DejaVu Sans"/>
                    <a:ea typeface="DejaVu Sans"/>
                    <a:cs typeface="DejaVu Sans"/>
                  </a:rPr>
                  <a:t>Число токенов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5DAD8"/>
            </a:solidFill>
          </a:ln>
        </c:spPr>
        <c:txPr>
          <a:bodyPr anchorCtr="1"/>
          <a:lstStyle/>
          <a:p>
            <a:pPr>
              <a:defRPr sz="1425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endParaRPr lang="ru-RU"/>
          </a:p>
        </c:txPr>
        <c:crossAx val="48672768"/>
        <c:crosses val="autoZero"/>
        <c:crossBetween val="midCat"/>
        <c:majorUnit val="512"/>
      </c:valAx>
      <c:spPr>
        <a:solidFill>
          <a:srgbClr val="F7F5E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425">
              <a:solidFill>
                <a:srgbClr val="152F3C"/>
              </a:solidFill>
              <a:latin typeface="DejaVu Sans"/>
              <a:ea typeface="DejaVu Sans"/>
              <a:cs typeface="DejaVu Sans"/>
            </a:defRPr>
          </a:pPr>
          <a:endParaRPr lang="ru-RU"/>
        </a:p>
      </c:txPr>
    </c:legend>
    <c:plotVisOnly val="1"/>
    <c:dispBlanksAs val="zero"/>
    <c:showDLblsOverMax val="1"/>
  </c:chart>
  <c:spPr>
    <a:solidFill>
      <a:srgbClr val="F7F5EF"/>
    </a:solidFill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0BFCF0-8285-4EFF-BAA6-7B6339FA88DC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FC678D-E6BF-4B27-936B-7F56594271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527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FC678D-E6BF-4B27-936B-7F56594271D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8353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9D227E7-4CFB-411F-8A9D-5A4170BF3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C2F6988-CC69-47DD-8461-625F0301C7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72D7C6B1-1186-42DF-BAF2-CF66DFD63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8C5D2F1-1E66-476C-9DA1-FF077EBC3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745BEF64-D6C7-4B4B-B84F-B6F6C70AF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4060772-E589-4DEA-83CE-37FCAC079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1DB7056-CC95-4EEA-8D6C-CD4470262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EC04F6AF-D69D-4968-85DB-64F1ABD0602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4ED1D57-C520-41D9-82FB-A0D3EA4AF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213FFF8-A87C-4BCA-BC05-D29B28FC0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D8029FC-BD12-4B91-BEAA-6F8029DB0B31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77D5C2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350" b="1">
                <a:solidFill>
                  <a:srgbClr val="77D5C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77D5C2"/>
                </a:solidFill>
                <a:latin typeface="DejaVu Sans"/>
                <a:ea typeface="DejaVu Sans"/>
                <a:cs typeface="DejaVu Sans"/>
              </a:rPr>
              <a:t>CUT CROSS-ENTROPY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9D11623-7896-41E6-A83C-97DFE83D4B58}"/>
              </a:ext>
            </a:extLst>
          </p:cNvPr>
          <p:cNvSpPr>
            <a:spLocks noGrp="1"/>
          </p:cNvSpPr>
          <p:nvPr/>
        </p:nvSpPr>
        <p:spPr>
          <a:xfrm>
            <a:off x="647700" y="1624012"/>
            <a:ext cx="7264908" cy="29845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Cut Your Losses</a:t>
            </a:r>
            <a:r>
              <a:rPr lang="ru-RU" sz="54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en-US" sz="5400" dirty="0"/>
              <a:t>In large-vocabulary Language Models</a:t>
            </a:r>
            <a:r>
              <a:rPr lang="ru-RU" sz="54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</a:t>
            </a:r>
            <a:endParaRPr sz="5400" b="1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394DE5E-DF17-43BF-AB87-20662BC6DF54}"/>
              </a:ext>
            </a:extLst>
          </p:cNvPr>
          <p:cNvSpPr>
            <a:spLocks noGrp="1"/>
          </p:cNvSpPr>
          <p:nvPr/>
        </p:nvSpPr>
        <p:spPr>
          <a:xfrm>
            <a:off x="11068050" y="6419850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AFBEC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1425" b="0">
                <a:solidFill>
                  <a:srgbClr val="AFBEC5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BEC5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BAAF973-3653-402C-B0BE-DF743860FABC}"/>
              </a:ext>
            </a:extLst>
          </p:cNvPr>
          <p:cNvSpPr>
            <a:spLocks noGrp="1"/>
          </p:cNvSpPr>
          <p:nvPr/>
        </p:nvSpPr>
        <p:spPr>
          <a:xfrm>
            <a:off x="647700" y="4238625"/>
            <a:ext cx="10477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BDE4DA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250" b="0">
                <a:solidFill>
                  <a:srgbClr val="BDE4DA"/>
                </a:solidFill>
                <a:latin typeface="DejaVu Sans"/>
                <a:ea typeface="DejaVu Sans"/>
                <a:cs typeface="DejaVu Sans"/>
              </a:defRPr>
            </a:pPr>
            <a:endParaRPr sz="2250" b="0" dirty="0">
              <a:solidFill>
                <a:srgbClr val="BDE4DA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D29D9DE-683D-4AD6-A99E-C964C3B902BB}"/>
              </a:ext>
            </a:extLst>
          </p:cNvPr>
          <p:cNvSpPr>
            <a:spLocks noGrp="1"/>
          </p:cNvSpPr>
          <p:nvPr/>
        </p:nvSpPr>
        <p:spPr>
          <a:xfrm>
            <a:off x="590550" y="5800725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AFBEC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650" b="0">
                <a:solidFill>
                  <a:srgbClr val="AFBEC5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1650" b="0" dirty="0">
                <a:solidFill>
                  <a:srgbClr val="AFBEC5"/>
                </a:solidFill>
                <a:latin typeface="DejaVu Sans"/>
                <a:ea typeface="DejaVu Sans"/>
                <a:cs typeface="DejaVu Sans"/>
              </a:rPr>
              <a:t>Лемешев Игорь</a:t>
            </a:r>
            <a:endParaRPr sz="1650" b="0" dirty="0">
              <a:solidFill>
                <a:srgbClr val="AFBEC5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768850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3D8424E-A17B-44F8-8D7A-9AD3792A5AE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УСТРОЙСТВО ЯЗЫКОВОЙ МОДЕЛИ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CE1C02A-7B98-43C4-B8A5-3B4BAE0C6D14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Предсказание следующего токена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4F03848-B6D7-42D9-879B-4BBFC124B35E}"/>
              </a:ext>
            </a:extLst>
          </p:cNvPr>
          <p:cNvSpPr>
            <a:spLocks noGrp="1"/>
          </p:cNvSpPr>
          <p:nvPr/>
        </p:nvSpPr>
        <p:spPr>
          <a:xfrm>
            <a:off x="11068050" y="6419850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B6634C6-6E7E-4680-BF7B-1F68B0EDB50C}"/>
              </a:ext>
            </a:extLst>
          </p:cNvPr>
          <p:cNvSpPr>
            <a:spLocks noGrp="1"/>
          </p:cNvSpPr>
          <p:nvPr/>
        </p:nvSpPr>
        <p:spPr>
          <a:xfrm>
            <a:off x="609600" y="1704975"/>
            <a:ext cx="1095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0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66974"/>
                </a:solidFill>
                <a:latin typeface="DejaVu Sans"/>
                <a:ea typeface="DejaVu Sans"/>
                <a:cs typeface="DejaVu Sans"/>
              </a:rPr>
              <a:t>Модель продолжает текст и сравнивает ответ с правильным токеном.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FB928F6-7266-4612-9EF8-FDCA0AED08D6}"/>
              </a:ext>
            </a:extLst>
          </p:cNvPr>
          <p:cNvSpPr>
            <a:spLocks noGrp="1"/>
          </p:cNvSpPr>
          <p:nvPr/>
        </p:nvSpPr>
        <p:spPr>
          <a:xfrm>
            <a:off x="609600" y="2733675"/>
            <a:ext cx="24193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40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3B73B34-889C-4CBE-839A-B6AA2F1C2A23}"/>
              </a:ext>
            </a:extLst>
          </p:cNvPr>
          <p:cNvSpPr>
            <a:spLocks noGrp="1"/>
          </p:cNvSpPr>
          <p:nvPr/>
        </p:nvSpPr>
        <p:spPr>
          <a:xfrm>
            <a:off x="609600" y="3295650"/>
            <a:ext cx="24193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100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Текст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31B2CAE-3CE4-4D72-9E4E-2836F3EE09B6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4193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«Мама мыла …»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2254A19-1D95-42DE-B215-5DA111C19570}"/>
              </a:ext>
            </a:extLst>
          </p:cNvPr>
          <p:cNvSpPr>
            <a:spLocks noGrp="1"/>
          </p:cNvSpPr>
          <p:nvPr/>
        </p:nvSpPr>
        <p:spPr>
          <a:xfrm>
            <a:off x="609600" y="5153025"/>
            <a:ext cx="24193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DE6C4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875" b="1">
                <a:solidFill>
                  <a:srgbClr val="DE6C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DE6C47"/>
                </a:solidFill>
                <a:latin typeface="DejaVu Sans"/>
                <a:ea typeface="DejaVu Sans"/>
                <a:cs typeface="DejaVu Sans"/>
              </a:rPr>
              <a:t>Входные токены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9752E40-97AD-4D16-831A-D5D8C0CE0BE4}"/>
              </a:ext>
            </a:extLst>
          </p:cNvPr>
          <p:cNvSpPr>
            <a:spLocks noGrp="1"/>
          </p:cNvSpPr>
          <p:nvPr/>
        </p:nvSpPr>
        <p:spPr>
          <a:xfrm>
            <a:off x="3448050" y="2733675"/>
            <a:ext cx="24193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40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6E36F30-4D0E-4453-A21C-7644E5855048}"/>
              </a:ext>
            </a:extLst>
          </p:cNvPr>
          <p:cNvSpPr>
            <a:spLocks noGrp="1"/>
          </p:cNvSpPr>
          <p:nvPr/>
        </p:nvSpPr>
        <p:spPr>
          <a:xfrm>
            <a:off x="3448050" y="3295650"/>
            <a:ext cx="24193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100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Transformer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D110652-8541-4CFA-AD89-49681C4A40BC}"/>
              </a:ext>
            </a:extLst>
          </p:cNvPr>
          <p:cNvSpPr>
            <a:spLocks noGrp="1"/>
          </p:cNvSpPr>
          <p:nvPr/>
        </p:nvSpPr>
        <p:spPr>
          <a:xfrm>
            <a:off x="3448050" y="3905250"/>
            <a:ext cx="24193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Скрытые</a:t>
            </a:r>
          </a:p>
          <a:p>
            <a:pPr algn="l">
              <a:def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состояния H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DE007D2-6E52-4CF4-94D8-A438A0D9E471}"/>
              </a:ext>
            </a:extLst>
          </p:cNvPr>
          <p:cNvSpPr>
            <a:spLocks noGrp="1"/>
          </p:cNvSpPr>
          <p:nvPr/>
        </p:nvSpPr>
        <p:spPr>
          <a:xfrm>
            <a:off x="3448050" y="5153025"/>
            <a:ext cx="24193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DE6C4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875" b="1">
                <a:solidFill>
                  <a:srgbClr val="DE6C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DE6C47"/>
                </a:solidFill>
                <a:latin typeface="DejaVu Sans"/>
                <a:ea typeface="DejaVu Sans"/>
                <a:cs typeface="DejaVu Sans"/>
              </a:rPr>
              <a:t>N × D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2406989-E31A-494B-928F-BB0F15C18316}"/>
              </a:ext>
            </a:extLst>
          </p:cNvPr>
          <p:cNvSpPr>
            <a:spLocks noGrp="1"/>
          </p:cNvSpPr>
          <p:nvPr/>
        </p:nvSpPr>
        <p:spPr>
          <a:xfrm>
            <a:off x="6286500" y="2733675"/>
            <a:ext cx="24193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40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86DD205-8004-48C3-980E-501D3139629A}"/>
              </a:ext>
            </a:extLst>
          </p:cNvPr>
          <p:cNvSpPr>
            <a:spLocks noGrp="1"/>
          </p:cNvSpPr>
          <p:nvPr/>
        </p:nvSpPr>
        <p:spPr>
          <a:xfrm>
            <a:off x="6286500" y="3295650"/>
            <a:ext cx="24193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100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LM head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4F4DC2F-CB36-426E-B909-5AF19BE77376}"/>
              </a:ext>
            </a:extLst>
          </p:cNvPr>
          <p:cNvSpPr>
            <a:spLocks noGrp="1"/>
          </p:cNvSpPr>
          <p:nvPr/>
        </p:nvSpPr>
        <p:spPr>
          <a:xfrm>
            <a:off x="6286500" y="3905250"/>
            <a:ext cx="24193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Оценки слов</a:t>
            </a:r>
          </a:p>
          <a:p>
            <a:pPr algn="l">
              <a:def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Z = H Wᵀ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F85347C-5A63-400E-BBAA-D7C4359D04C4}"/>
              </a:ext>
            </a:extLst>
          </p:cNvPr>
          <p:cNvSpPr>
            <a:spLocks noGrp="1"/>
          </p:cNvSpPr>
          <p:nvPr/>
        </p:nvSpPr>
        <p:spPr>
          <a:xfrm>
            <a:off x="6286500" y="5153025"/>
            <a:ext cx="24193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DE6C4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875" b="1">
                <a:solidFill>
                  <a:srgbClr val="DE6C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DE6C47"/>
                </a:solidFill>
                <a:latin typeface="DejaVu Sans"/>
                <a:ea typeface="DejaVu Sans"/>
                <a:cs typeface="DejaVu Sans"/>
              </a:rPr>
              <a:t>N × V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81E2901-EA1A-4650-B521-763C741EA7B3}"/>
              </a:ext>
            </a:extLst>
          </p:cNvPr>
          <p:cNvSpPr>
            <a:spLocks noGrp="1"/>
          </p:cNvSpPr>
          <p:nvPr/>
        </p:nvSpPr>
        <p:spPr>
          <a:xfrm>
            <a:off x="9124950" y="2733675"/>
            <a:ext cx="24193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40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18809D2-8A83-4AAB-9902-788FF1CC3B2C}"/>
              </a:ext>
            </a:extLst>
          </p:cNvPr>
          <p:cNvSpPr>
            <a:spLocks noGrp="1"/>
          </p:cNvSpPr>
          <p:nvPr/>
        </p:nvSpPr>
        <p:spPr>
          <a:xfrm>
            <a:off x="9124950" y="3295650"/>
            <a:ext cx="24193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100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Cross-entropy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76F53EE-24DE-42C7-83BD-AE3ED4D63816}"/>
              </a:ext>
            </a:extLst>
          </p:cNvPr>
          <p:cNvSpPr>
            <a:spLocks noGrp="1"/>
          </p:cNvSpPr>
          <p:nvPr/>
        </p:nvSpPr>
        <p:spPr>
          <a:xfrm>
            <a:off x="9124950" y="3905250"/>
            <a:ext cx="24193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Loss для</a:t>
            </a:r>
          </a:p>
          <a:p>
            <a:pPr algn="l">
              <a:def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слова «раму»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77CF8F8-FC26-43A0-BF9E-7D3C6636F027}"/>
              </a:ext>
            </a:extLst>
          </p:cNvPr>
          <p:cNvSpPr>
            <a:spLocks noGrp="1"/>
          </p:cNvSpPr>
          <p:nvPr/>
        </p:nvSpPr>
        <p:spPr>
          <a:xfrm>
            <a:off x="9124950" y="5153025"/>
            <a:ext cx="24193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DE6C4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875" b="1">
                <a:solidFill>
                  <a:srgbClr val="DE6C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DE6C47"/>
                </a:solidFill>
                <a:latin typeface="DejaVu Sans"/>
                <a:ea typeface="DejaVu Sans"/>
                <a:cs typeface="DejaVu Sans"/>
              </a:rPr>
              <a:t>Одно число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3F6AECE8-0F72-46D1-9484-5A330C0EF38E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53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800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66974"/>
                </a:solidFill>
                <a:latin typeface="DejaVu Sans"/>
                <a:ea typeface="DejaVu Sans"/>
                <a:cs typeface="DejaVu Sans"/>
              </a:rPr>
              <a:t>N: число токенов в batch     D: размер hidden     V: размер словаря</a:t>
            </a:r>
          </a:p>
        </p:txBody>
      </p:sp>
    </p:spTree>
    <p:extLst>
      <p:ext uri="{BB962C8B-B14F-4D97-AF65-F5344CB8AC3E}">
        <p14:creationId xmlns:p14="http://schemas.microsoft.com/office/powerpoint/2010/main" val="1235618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7638EE2-19FE-48AD-8E28-AC4B1538168F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CROSS-ENTROPY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4E3523A-B06E-4D83-8123-236B636C4B59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Мини-пример: модель выбирает слово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6DDC55-2E08-49ED-8883-9F0B69280301}"/>
              </a:ext>
            </a:extLst>
          </p:cNvPr>
          <p:cNvSpPr>
            <a:spLocks noGrp="1"/>
          </p:cNvSpPr>
          <p:nvPr/>
        </p:nvSpPr>
        <p:spPr>
          <a:xfrm>
            <a:off x="11068050" y="6419850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46C5BB8-A6D3-4383-8D71-ECF2E6E5C7D8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433387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550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«Я люблю пить …»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0070144-1CE6-4689-90B4-2C58A9A79170}"/>
              </a:ext>
            </a:extLst>
          </p:cNvPr>
          <p:cNvSpPr>
            <a:spLocks noGrp="1"/>
          </p:cNvSpPr>
          <p:nvPr/>
        </p:nvSpPr>
        <p:spPr>
          <a:xfrm>
            <a:off x="609600" y="2628900"/>
            <a:ext cx="43338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10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Правильное слово: «чай»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96652FF-6DEC-4E72-865B-922927A5A984}"/>
              </a:ext>
            </a:extLst>
          </p:cNvPr>
          <p:cNvSpPr>
            <a:spLocks noGrp="1"/>
          </p:cNvSpPr>
          <p:nvPr/>
        </p:nvSpPr>
        <p:spPr>
          <a:xfrm>
            <a:off x="609600" y="3705225"/>
            <a:ext cx="4333875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175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Модель оценивает</a:t>
            </a:r>
          </a:p>
          <a:p>
            <a:pPr algn="l">
              <a:defRPr sz="2175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все слова словаря.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778C1A9-295A-4923-AF69-125AA62D0B35}"/>
              </a:ext>
            </a:extLst>
          </p:cNvPr>
          <p:cNvSpPr>
            <a:spLocks noGrp="1"/>
          </p:cNvSpPr>
          <p:nvPr/>
        </p:nvSpPr>
        <p:spPr>
          <a:xfrm>
            <a:off x="609600" y="5038725"/>
            <a:ext cx="4333875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400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P(чай) ≈ 78,5%</a:t>
            </a:r>
          </a:p>
          <a:p>
            <a:pPr algn="l">
              <a:defRPr sz="2400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Loss ≈ 0,24</a:t>
            </a:r>
          </a:p>
        </p:txBody>
      </p:sp>
      <p:graphicFrame>
        <p:nvGraphicFramePr>
          <p:cNvPr id="9" name="Chart">
            <a:extLst>
              <a:ext uri="{FF2B5EF4-FFF2-40B4-BE49-F238E27FC236}">
                <a16:creationId xmlns:a16="http://schemas.microsoft.com/office/drawing/2014/main" id="{D135E8EF-9547-447C-A55D-C630A211F6A0}"/>
              </a:ext>
            </a:extLst>
          </p:cNvPr>
          <p:cNvGraphicFramePr/>
          <p:nvPr/>
        </p:nvGraphicFramePr>
        <p:xfrm>
          <a:off x="5295900" y="1914525"/>
          <a:ext cx="6248400" cy="3933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89144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A6C82F2-27D7-41BA-B1A2-9A5A196D436C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ПРОБЛЕМА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F257202-48D0-48B7-89B6-956566E71AFD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Размер матрицы logits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98F1C08-19F7-4877-B370-73E763BB0213}"/>
              </a:ext>
            </a:extLst>
          </p:cNvPr>
          <p:cNvSpPr>
            <a:spLocks noGrp="1"/>
          </p:cNvSpPr>
          <p:nvPr/>
        </p:nvSpPr>
        <p:spPr>
          <a:xfrm>
            <a:off x="11068050" y="6419850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CE66E3D-EFE7-476B-B3FB-75A284248FF7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10953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100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566974"/>
                </a:solidFill>
                <a:latin typeface="DejaVu Sans"/>
                <a:ea typeface="DejaVu Sans"/>
                <a:cs typeface="DejaVu Sans"/>
              </a:rPr>
              <a:t>Для каждой позиции модель хранит оценки всего словаря.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DE3A01E6-83D6-4FC7-BB87-9B2F14107DF1}"/>
              </a:ext>
            </a:extLst>
          </p:cNvPr>
          <p:cNvGraphicFramePr/>
          <p:nvPr/>
        </p:nvGraphicFramePr>
        <p:xfrm>
          <a:off x="609600" y="2752725"/>
          <a:ext cx="6515100" cy="3291840"/>
        </p:xfrm>
        <a:graphic>
          <a:graphicData uri="http://schemas.openxmlformats.org/drawingml/2006/table">
            <a:tbl>
              <a:tblPr/>
              <a:tblGrid>
                <a:gridCol w="361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256117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8C7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117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8C7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117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8C7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117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8C7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117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8C7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117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8C7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117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8C7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117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8C7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117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8C7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FE6E4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>
                    <a:solidFill>
                      <a:srgbClr val="DFE6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70999DC-BBA5-4F43-989A-6EFEBF0ADF19}"/>
              </a:ext>
            </a:extLst>
          </p:cNvPr>
          <p:cNvSpPr>
            <a:spLocks noGrp="1"/>
          </p:cNvSpPr>
          <p:nvPr/>
        </p:nvSpPr>
        <p:spPr>
          <a:xfrm>
            <a:off x="7610475" y="2647950"/>
            <a:ext cx="40005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50" b="1">
                <a:solidFill>
                  <a:srgbClr val="DE6C4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850" b="1">
                <a:solidFill>
                  <a:srgbClr val="DE6C47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DE6C47"/>
                </a:solidFill>
                <a:latin typeface="DejaVu Sans"/>
                <a:ea typeface="DejaVu Sans"/>
                <a:cs typeface="DejaVu Sans"/>
              </a:rPr>
              <a:t>8 192 × 256 000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A5825ED-77CD-497B-B032-2A50384DCFD9}"/>
              </a:ext>
            </a:extLst>
          </p:cNvPr>
          <p:cNvSpPr>
            <a:spLocks noGrp="1"/>
          </p:cNvSpPr>
          <p:nvPr/>
        </p:nvSpPr>
        <p:spPr>
          <a:xfrm>
            <a:off x="7610475" y="3609975"/>
            <a:ext cx="39624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47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2,1 млрд logits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A731CAC-C20C-474D-86E8-E940EF2FA402}"/>
              </a:ext>
            </a:extLst>
          </p:cNvPr>
          <p:cNvSpPr>
            <a:spLocks noGrp="1"/>
          </p:cNvSpPr>
          <p:nvPr/>
        </p:nvSpPr>
        <p:spPr>
          <a:xfrm>
            <a:off x="7610475" y="4438650"/>
            <a:ext cx="39243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125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4125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8,4 GB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58FEDC0-519E-48CE-A170-7A7D80E64F39}"/>
              </a:ext>
            </a:extLst>
          </p:cNvPr>
          <p:cNvSpPr>
            <a:spLocks noGrp="1"/>
          </p:cNvSpPr>
          <p:nvPr/>
        </p:nvSpPr>
        <p:spPr>
          <a:xfrm>
            <a:off x="7610475" y="5400675"/>
            <a:ext cx="39624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87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66974"/>
                </a:solidFill>
                <a:latin typeface="DejaVu Sans"/>
                <a:ea typeface="DejaVu Sans"/>
                <a:cs typeface="DejaVu Sans"/>
              </a:rPr>
              <a:t>Одна матрица FP32</a:t>
            </a:r>
          </a:p>
        </p:txBody>
      </p:sp>
    </p:spTree>
    <p:extLst>
      <p:ext uri="{BB962C8B-B14F-4D97-AF65-F5344CB8AC3E}">
        <p14:creationId xmlns:p14="http://schemas.microsoft.com/office/powerpoint/2010/main" val="946483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5897CA8-D523-4B9D-9508-F6F1BA8B832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ФОРМУЛА ФУНКЦИИ ПОТЕРЬ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8064BB9-185E-44EA-BAFF-B37DAC8EB828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Из чего состоит cross-entropy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CA8A6F8-1AAE-44D6-B16A-E1AE44CBC431}"/>
              </a:ext>
            </a:extLst>
          </p:cNvPr>
          <p:cNvSpPr>
            <a:spLocks noGrp="1"/>
          </p:cNvSpPr>
          <p:nvPr/>
        </p:nvSpPr>
        <p:spPr>
          <a:xfrm>
            <a:off x="11068050" y="6419850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8EC1C91-C432-4523-BD6A-F14708BA382A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75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3975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3975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Lossᵢ = logsumexp(zᵢ) − zᵢ,ᵧ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9D409C4-D31A-494E-99FD-66C3F5A81E39}"/>
              </a:ext>
            </a:extLst>
          </p:cNvPr>
          <p:cNvSpPr>
            <a:spLocks noGrp="1"/>
          </p:cNvSpPr>
          <p:nvPr/>
        </p:nvSpPr>
        <p:spPr>
          <a:xfrm>
            <a:off x="609600" y="3505200"/>
            <a:ext cx="5114925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400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Сумма по всем словам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6297AF8-7CA0-4B59-BF34-A76A0FC25C96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5248275" cy="1323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025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logsumexp(zᵢ) = log Σⱼ exp(zᵢ,ⱼ)</a:t>
            </a:r>
          </a:p>
          <a:p>
            <a:pPr algn="l">
              <a:defRPr sz="2025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Все оценки сворачиваются</a:t>
            </a:r>
          </a:p>
          <a:p>
            <a:pPr algn="l">
              <a:defRPr sz="2025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в одно число на токен.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E099B8A-92E6-48B1-ACEE-844C00AB76E0}"/>
              </a:ext>
            </a:extLst>
          </p:cNvPr>
          <p:cNvSpPr>
            <a:spLocks noGrp="1"/>
          </p:cNvSpPr>
          <p:nvPr/>
        </p:nvSpPr>
        <p:spPr>
          <a:xfrm>
            <a:off x="6448425" y="3505200"/>
            <a:ext cx="509587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250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Оценка правильного слова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06A85FA-C3E2-4016-BC10-B1D86CE2F0A9}"/>
              </a:ext>
            </a:extLst>
          </p:cNvPr>
          <p:cNvSpPr>
            <a:spLocks noGrp="1"/>
          </p:cNvSpPr>
          <p:nvPr/>
        </p:nvSpPr>
        <p:spPr>
          <a:xfrm>
            <a:off x="6448425" y="4286250"/>
            <a:ext cx="5095875" cy="1323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025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zᵢ,ᵧ = hᵢ · W[yᵢ]</a:t>
            </a:r>
          </a:p>
          <a:p>
            <a:pPr algn="l">
              <a:defRPr sz="2025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Нужна одна строка весов</a:t>
            </a:r>
          </a:p>
          <a:p>
            <a:pPr algn="l">
              <a:defRPr sz="2025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для каждого target.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1945FDB-9F8E-4B89-AACA-C0A6F8A06539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87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66974"/>
                </a:solidFill>
                <a:latin typeface="DejaVu Sans"/>
                <a:ea typeface="DejaVu Sans"/>
                <a:cs typeface="DejaVu Sans"/>
              </a:rPr>
              <a:t>CCE вычисляет эти два числа, сохраняя обычную формулу loss.</a:t>
            </a:r>
          </a:p>
        </p:txBody>
      </p:sp>
    </p:spTree>
    <p:extLst>
      <p:ext uri="{BB962C8B-B14F-4D97-AF65-F5344CB8AC3E}">
        <p14:creationId xmlns:p14="http://schemas.microsoft.com/office/powerpoint/2010/main" val="1023997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4A14788-7035-418B-AE39-1C335E81784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INDEXED DOT PRODUCT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067EA49-D76E-4F5A-ACF8-2592FC319133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Оценка правильного слова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FA0DB0C-FD57-4BA4-94FF-6DA0182E4720}"/>
              </a:ext>
            </a:extLst>
          </p:cNvPr>
          <p:cNvSpPr>
            <a:spLocks noGrp="1"/>
          </p:cNvSpPr>
          <p:nvPr/>
        </p:nvSpPr>
        <p:spPr>
          <a:xfrm>
            <a:off x="11068050" y="6419850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1552DB8-7114-483F-BCC3-4C5483C96F98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109537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100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566974"/>
                </a:solidFill>
                <a:latin typeface="DejaVu Sans"/>
                <a:ea typeface="DejaVu Sans"/>
                <a:cs typeface="DejaVu Sans"/>
              </a:rPr>
              <a:t>Для «чай» достаточно hidden-вектора и одной строки W.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44E677DC-45B2-4B35-AE27-85C636328C62}"/>
              </a:ext>
            </a:extLst>
          </p:cNvPr>
          <p:cNvGraphicFramePr/>
          <p:nvPr/>
        </p:nvGraphicFramePr>
        <p:xfrm>
          <a:off x="609600" y="2838450"/>
          <a:ext cx="10953750" cy="2114550"/>
        </p:xfrm>
        <a:graphic>
          <a:graphicData uri="http://schemas.openxmlformats.org/drawingml/2006/table">
            <a:tbl>
              <a:tblPr/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Вектор</a:t>
                      </a:r>
                    </a:p>
                  </a:txBody>
                  <a:tcPr anchor="ctr">
                    <a:solidFill>
                      <a:srgbClr val="152F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Компонента 1</a:t>
                      </a:r>
                    </a:p>
                  </a:txBody>
                  <a:tcPr anchor="ctr">
                    <a:solidFill>
                      <a:srgbClr val="152F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Компонента 2</a:t>
                      </a:r>
                    </a:p>
                  </a:txBody>
                  <a:tcPr anchor="ctr">
                    <a:solidFill>
                      <a:srgbClr val="152F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Компонента 3</a:t>
                      </a:r>
                    </a:p>
                  </a:txBody>
                  <a:tcPr anchor="ctr">
                    <a:solidFill>
                      <a:srgbClr val="152F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W[чай]</a:t>
                      </a:r>
                    </a:p>
                  </a:txBody>
                  <a:tcPr anchor="ctr">
                    <a:solidFill>
                      <a:srgbClr val="E4F0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 b="1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1,0</a:t>
                      </a:r>
                    </a:p>
                  </a:txBody>
                  <a:tcPr anchor="ctr">
                    <a:solidFill>
                      <a:srgbClr val="E4F0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 b="1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1,6</a:t>
                      </a:r>
                    </a:p>
                  </a:txBody>
                  <a:tcPr anchor="ctr">
                    <a:solidFill>
                      <a:srgbClr val="E4F0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 b="1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3,0</a:t>
                      </a:r>
                    </a:p>
                  </a:txBody>
                  <a:tcPr anchor="ctr">
                    <a:solidFill>
                      <a:srgbClr val="E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79D2B01-9A98-4172-B3B3-D7FE308F278B}"/>
              </a:ext>
            </a:extLst>
          </p:cNvPr>
          <p:cNvSpPr>
            <a:spLocks noGrp="1"/>
          </p:cNvSpPr>
          <p:nvPr/>
        </p:nvSpPr>
        <p:spPr>
          <a:xfrm>
            <a:off x="609600" y="5305425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5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zᵢ,чай = 0,2 × 1 + 0,5 × 1,6 + 1 × 3 = 4,0</a:t>
            </a:r>
          </a:p>
        </p:txBody>
      </p:sp>
    </p:spTree>
    <p:extLst>
      <p:ext uri="{BB962C8B-B14F-4D97-AF65-F5344CB8AC3E}">
        <p14:creationId xmlns:p14="http://schemas.microsoft.com/office/powerpoint/2010/main" val="456132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C090A56-3FCB-4B7B-80ED-943BD5EE946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АЛГОРИТМ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093AD7F-F518-4DC3-B9A3-39A01F39CA7D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Log-sum-exp по блокам словаря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CD0B033-B889-4BB7-BCA4-8AC5421C9FD7}"/>
              </a:ext>
            </a:extLst>
          </p:cNvPr>
          <p:cNvSpPr>
            <a:spLocks noGrp="1"/>
          </p:cNvSpPr>
          <p:nvPr/>
        </p:nvSpPr>
        <p:spPr>
          <a:xfrm>
            <a:off x="11068050" y="6419850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1217FC5-A465-40AB-834E-5B75C2514B78}"/>
              </a:ext>
            </a:extLst>
          </p:cNvPr>
          <p:cNvGraphicFramePr/>
          <p:nvPr/>
        </p:nvGraphicFramePr>
        <p:xfrm>
          <a:off x="609600" y="1914525"/>
          <a:ext cx="10953750" cy="2514600"/>
        </p:xfrm>
        <a:graphic>
          <a:graphicData uri="http://schemas.openxmlformats.org/drawingml/2006/table">
            <a:tbl>
              <a:tblPr/>
              <a:tblGrid>
                <a:gridCol w="447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Блок</a:t>
                      </a:r>
                    </a:p>
                  </a:txBody>
                  <a:tcPr anchor="ctr">
                    <a:solidFill>
                      <a:srgbClr val="152F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Оценки</a:t>
                      </a:r>
                    </a:p>
                  </a:txBody>
                  <a:tcPr anchor="ctr">
                    <a:solidFill>
                      <a:srgbClr val="152F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9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Сумма exp</a:t>
                      </a:r>
                    </a:p>
                  </a:txBody>
                  <a:tcPr anchor="ctr">
                    <a:solidFill>
                      <a:srgbClr val="152F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воду, чай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950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1,6 и 4,0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950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59,551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кофе, бегать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950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2,1 и −1,0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950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8,534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море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950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950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1,492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CB05A82-16A4-4710-A412-49B276E39D82}"/>
              </a:ext>
            </a:extLst>
          </p:cNvPr>
          <p:cNvSpPr>
            <a:spLocks noGrp="1"/>
          </p:cNvSpPr>
          <p:nvPr/>
        </p:nvSpPr>
        <p:spPr>
          <a:xfrm>
            <a:off x="609600" y="4829175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2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LSE = logaddexp(LSE, LSE текущего блока)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5529F35-B665-4B30-8A6B-60DA392B1227}"/>
              </a:ext>
            </a:extLst>
          </p:cNvPr>
          <p:cNvSpPr>
            <a:spLocks noGrp="1"/>
          </p:cNvSpPr>
          <p:nvPr/>
        </p:nvSpPr>
        <p:spPr>
          <a:xfrm>
            <a:off x="609600" y="5514975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400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Σ exp = 69,577     Loss = ln(69,577) − 4 ≈ 0,24</a:t>
            </a:r>
          </a:p>
        </p:txBody>
      </p:sp>
    </p:spTree>
    <p:extLst>
      <p:ext uri="{BB962C8B-B14F-4D97-AF65-F5344CB8AC3E}">
        <p14:creationId xmlns:p14="http://schemas.microsoft.com/office/powerpoint/2010/main" val="4986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135C72B-367F-4DB8-B5DE-20D02E84922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ПАМЯТЬ GPU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D3D3A29-6341-4B99-BA39-320BEAD08A8E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Где хранятся промежуточные значения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FD67CD8-0931-4DCE-9890-B26DA2C23370}"/>
              </a:ext>
            </a:extLst>
          </p:cNvPr>
          <p:cNvSpPr>
            <a:spLocks noGrp="1"/>
          </p:cNvSpPr>
          <p:nvPr/>
        </p:nvSpPr>
        <p:spPr>
          <a:xfrm>
            <a:off x="11068050" y="6419850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77A9207-1207-4755-BFA0-3E812C596EF1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5133975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1">
                <a:solidFill>
                  <a:srgbClr val="DE6C4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475" b="1">
                <a:solidFill>
                  <a:srgbClr val="DE6C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DE6C47"/>
                </a:solidFill>
                <a:latin typeface="DejaVu Sans"/>
                <a:ea typeface="DejaVu Sans"/>
                <a:cs typeface="DejaVu Sans"/>
              </a:rPr>
              <a:t>Обычный PyTorch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1789892-B5F5-4C20-A403-610D5EB5C204}"/>
              </a:ext>
            </a:extLst>
          </p:cNvPr>
          <p:cNvSpPr>
            <a:spLocks noGrp="1"/>
          </p:cNvSpPr>
          <p:nvPr/>
        </p:nvSpPr>
        <p:spPr>
          <a:xfrm>
            <a:off x="609600" y="2800350"/>
            <a:ext cx="5133975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2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Полная матрица logits</a:t>
            </a:r>
          </a:p>
          <a:p>
            <a:pPr algn="l">
              <a:defRPr sz="22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в глобальной памяти HBM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19E9825-D9C9-45A0-BE7A-5A29EFF61086}"/>
              </a:ext>
            </a:extLst>
          </p:cNvPr>
          <p:cNvSpPr>
            <a:spLocks noGrp="1"/>
          </p:cNvSpPr>
          <p:nvPr/>
        </p:nvSpPr>
        <p:spPr>
          <a:xfrm>
            <a:off x="609600" y="4124325"/>
            <a:ext cx="5133975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10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Cross-entropy читает её</a:t>
            </a:r>
          </a:p>
          <a:p>
            <a:pPr algn="l">
              <a:defRPr sz="210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после linear.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0905080-3B59-4138-8630-36AB6F798705}"/>
              </a:ext>
            </a:extLst>
          </p:cNvPr>
          <p:cNvSpPr>
            <a:spLocks noGrp="1"/>
          </p:cNvSpPr>
          <p:nvPr/>
        </p:nvSpPr>
        <p:spPr>
          <a:xfrm>
            <a:off x="609600" y="5486400"/>
            <a:ext cx="51339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DE6C4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175" b="1">
                <a:solidFill>
                  <a:srgbClr val="DE6C47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DE6C47"/>
                </a:solidFill>
                <a:latin typeface="DejaVu Sans"/>
                <a:ea typeface="DejaVu Sans"/>
                <a:cs typeface="DejaVu Sans"/>
              </a:rPr>
              <a:t>Объём матрицы: N × V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E12F36D-BA2C-4FDA-B5E2-ECBC6216D6BF}"/>
              </a:ext>
            </a:extLst>
          </p:cNvPr>
          <p:cNvSpPr>
            <a:spLocks noGrp="1"/>
          </p:cNvSpPr>
          <p:nvPr/>
        </p:nvSpPr>
        <p:spPr>
          <a:xfrm>
            <a:off x="6429375" y="1981200"/>
            <a:ext cx="5133975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475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Cut Cross-Entropy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8530367-7068-460F-83E0-ABB1E3CEBB37}"/>
              </a:ext>
            </a:extLst>
          </p:cNvPr>
          <p:cNvSpPr>
            <a:spLocks noGrp="1"/>
          </p:cNvSpPr>
          <p:nvPr/>
        </p:nvSpPr>
        <p:spPr>
          <a:xfrm>
            <a:off x="6429375" y="2800350"/>
            <a:ext cx="5133975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2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Небольшой блок logits</a:t>
            </a:r>
          </a:p>
          <a:p>
            <a:pPr algn="l">
              <a:defRPr sz="22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в быстрой памяти SRAM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75C6413-EDB7-405B-BD69-F32010EB10CD}"/>
              </a:ext>
            </a:extLst>
          </p:cNvPr>
          <p:cNvSpPr>
            <a:spLocks noGrp="1"/>
          </p:cNvSpPr>
          <p:nvPr/>
        </p:nvSpPr>
        <p:spPr>
          <a:xfrm>
            <a:off x="6429375" y="4124325"/>
            <a:ext cx="5133975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10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Ядро сразу сворачивает блок</a:t>
            </a:r>
          </a:p>
          <a:p>
            <a:pPr algn="l">
              <a:defRPr sz="210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и обновляет сумму.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52B4C9D-7F98-428B-A6C5-8F156544281A}"/>
              </a:ext>
            </a:extLst>
          </p:cNvPr>
          <p:cNvSpPr>
            <a:spLocks noGrp="1"/>
          </p:cNvSpPr>
          <p:nvPr/>
        </p:nvSpPr>
        <p:spPr>
          <a:xfrm>
            <a:off x="6429375" y="5486400"/>
            <a:ext cx="51339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025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Сохраняется N значений LSE</a:t>
            </a:r>
          </a:p>
        </p:txBody>
      </p:sp>
    </p:spTree>
    <p:extLst>
      <p:ext uri="{BB962C8B-B14F-4D97-AF65-F5344CB8AC3E}">
        <p14:creationId xmlns:p14="http://schemas.microsoft.com/office/powerpoint/2010/main" val="1756665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2D0DA17-AA4F-45D2-BC4E-DF4DBD8098A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BACKWARD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BBF535E-F3CA-446F-A525-400F4A4DF03F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Градиенты требуют повторного расчёта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21DD510-E18A-4474-9A83-3BFCC3D967FD}"/>
              </a:ext>
            </a:extLst>
          </p:cNvPr>
          <p:cNvSpPr>
            <a:spLocks noGrp="1"/>
          </p:cNvSpPr>
          <p:nvPr/>
        </p:nvSpPr>
        <p:spPr>
          <a:xfrm>
            <a:off x="11068050" y="6419850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7B7DAE5-58D5-467B-B0F7-75F308AEDEE8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7143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125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4125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19C9A44-307F-4D91-999B-7B31A9DDB088}"/>
              </a:ext>
            </a:extLst>
          </p:cNvPr>
          <p:cNvSpPr>
            <a:spLocks noGrp="1"/>
          </p:cNvSpPr>
          <p:nvPr/>
        </p:nvSpPr>
        <p:spPr>
          <a:xfrm>
            <a:off x="1485900" y="2019300"/>
            <a:ext cx="97917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2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Снова посчитать небольшой блок logits.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F6DB0A4-5069-47FA-A0C1-EC3668BBDB5C}"/>
              </a:ext>
            </a:extLst>
          </p:cNvPr>
          <p:cNvSpPr>
            <a:spLocks noGrp="1"/>
          </p:cNvSpPr>
          <p:nvPr/>
        </p:nvSpPr>
        <p:spPr>
          <a:xfrm>
            <a:off x="609600" y="3133725"/>
            <a:ext cx="7143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125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4125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2B09C3C-F0FC-4957-884C-2E6665B1DFFB}"/>
              </a:ext>
            </a:extLst>
          </p:cNvPr>
          <p:cNvSpPr>
            <a:spLocks noGrp="1"/>
          </p:cNvSpPr>
          <p:nvPr/>
        </p:nvSpPr>
        <p:spPr>
          <a:xfrm>
            <a:off x="1485900" y="3190875"/>
            <a:ext cx="97917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2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Получить вероятности и градиент loss.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724F27D-3FC3-4EE9-BDBE-58F0C86EACE9}"/>
              </a:ext>
            </a:extLst>
          </p:cNvPr>
          <p:cNvSpPr>
            <a:spLocks noGrp="1"/>
          </p:cNvSpPr>
          <p:nvPr/>
        </p:nvSpPr>
        <p:spPr>
          <a:xfrm>
            <a:off x="609600" y="4305300"/>
            <a:ext cx="7143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125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4125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BD308B1-8CF0-45C5-8C93-85A6B0E0A7A2}"/>
              </a:ext>
            </a:extLst>
          </p:cNvPr>
          <p:cNvSpPr>
            <a:spLocks noGrp="1"/>
          </p:cNvSpPr>
          <p:nvPr/>
        </p:nvSpPr>
        <p:spPr>
          <a:xfrm>
            <a:off x="1485900" y="4362450"/>
            <a:ext cx="97917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2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Добавить вклад в градиенты входов и весов.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80A300F-9244-414B-B92E-1FB4D51A2484}"/>
              </a:ext>
            </a:extLst>
          </p:cNvPr>
          <p:cNvSpPr>
            <a:spLocks noGrp="1"/>
          </p:cNvSpPr>
          <p:nvPr/>
        </p:nvSpPr>
        <p:spPr>
          <a:xfrm>
            <a:off x="1485900" y="5238750"/>
            <a:ext cx="9525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550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G = (P − one-hot(target)) / N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09C341C-01B1-4A72-978F-1168E9BE3980}"/>
              </a:ext>
            </a:extLst>
          </p:cNvPr>
          <p:cNvSpPr>
            <a:spLocks noGrp="1"/>
          </p:cNvSpPr>
          <p:nvPr/>
        </p:nvSpPr>
        <p:spPr>
          <a:xfrm>
            <a:off x="1485900" y="5838825"/>
            <a:ext cx="9715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87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66974"/>
                </a:solidFill>
                <a:latin typeface="DejaVu Sans"/>
                <a:ea typeface="DejaVu Sans"/>
                <a:cs typeface="DejaVu Sans"/>
              </a:rPr>
              <a:t>Градиенты весов всё равно нужно хранить.</a:t>
            </a:r>
          </a:p>
        </p:txBody>
      </p:sp>
    </p:spTree>
    <p:extLst>
      <p:ext uri="{BB962C8B-B14F-4D97-AF65-F5344CB8AC3E}">
        <p14:creationId xmlns:p14="http://schemas.microsoft.com/office/powerpoint/2010/main" val="2136112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34D6CED-2949-407F-BB5D-796BE415739B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РИСУНОК 3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9B8A85F-0FA6-4B6F-8901-FBFE672EE68D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Фильтрация малых градиентов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C6BBD41-9FCC-4E71-A68A-BC95DC161AE6}"/>
              </a:ext>
            </a:extLst>
          </p:cNvPr>
          <p:cNvSpPr>
            <a:spLocks noGrp="1"/>
          </p:cNvSpPr>
          <p:nvPr/>
        </p:nvSpPr>
        <p:spPr>
          <a:xfrm>
            <a:off x="11068050" y="6419850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4848FE6-4356-4D1B-B638-71F5A2AB2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76275" y="1838325"/>
            <a:ext cx="5486400" cy="39624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239C2C2-A524-48BD-9D67-4AAB2EAB3AD9}"/>
              </a:ext>
            </a:extLst>
          </p:cNvPr>
          <p:cNvSpPr>
            <a:spLocks noGrp="1"/>
          </p:cNvSpPr>
          <p:nvPr/>
        </p:nvSpPr>
        <p:spPr>
          <a:xfrm>
            <a:off x="6705600" y="1895475"/>
            <a:ext cx="482917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20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420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&lt; 0,02%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232CC09-EAE2-44B6-BC56-CB3AEEE85947}"/>
              </a:ext>
            </a:extLst>
          </p:cNvPr>
          <p:cNvSpPr>
            <a:spLocks noGrp="1"/>
          </p:cNvSpPr>
          <p:nvPr/>
        </p:nvSpPr>
        <p:spPr>
          <a:xfrm>
            <a:off x="6705600" y="2809875"/>
            <a:ext cx="482917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Значимых элементов softmax</a:t>
            </a:r>
          </a:p>
          <a:p>
            <a:pPr algn="l">
              <a:def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в измерениях авторов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8082272-7AC5-43E4-9786-9A60040B8A4F}"/>
              </a:ext>
            </a:extLst>
          </p:cNvPr>
          <p:cNvSpPr>
            <a:spLocks noGrp="1"/>
          </p:cNvSpPr>
          <p:nvPr/>
        </p:nvSpPr>
        <p:spPr>
          <a:xfrm>
            <a:off x="6705600" y="3943350"/>
            <a:ext cx="4829175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400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ε = 2⁻¹² ≈ 0,000244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68FD929-E1C5-4B40-ACC7-361EB4C4EEA7}"/>
              </a:ext>
            </a:extLst>
          </p:cNvPr>
          <p:cNvSpPr>
            <a:spLocks noGrp="1"/>
          </p:cNvSpPr>
          <p:nvPr/>
        </p:nvSpPr>
        <p:spPr>
          <a:xfrm>
            <a:off x="6705600" y="4743450"/>
            <a:ext cx="4829175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Если весь блок ниже порога,</a:t>
            </a:r>
          </a:p>
          <a:p>
            <a:pPr algn="l">
              <a:def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CCE пропускает его в backward.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561C1F2-7419-47AE-BFCA-7FD6C30CE6E1}"/>
              </a:ext>
            </a:extLst>
          </p:cNvPr>
          <p:cNvSpPr>
            <a:spLocks noGrp="1"/>
          </p:cNvSpPr>
          <p:nvPr/>
        </p:nvSpPr>
        <p:spPr>
          <a:xfrm>
            <a:off x="609600" y="5934075"/>
            <a:ext cx="109537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DE6C4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875" b="1">
                <a:solidFill>
                  <a:srgbClr val="DE6C4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DE6C47"/>
                </a:solidFill>
                <a:latin typeface="DejaVu Sans"/>
                <a:ea typeface="DejaVu Sans"/>
                <a:cs typeface="DejaVu Sans"/>
              </a:rPr>
              <a:t>Фильтрация приближённая. Forward учитывает все слова.</a:t>
            </a:r>
          </a:p>
        </p:txBody>
      </p:sp>
    </p:spTree>
    <p:extLst>
      <p:ext uri="{BB962C8B-B14F-4D97-AF65-F5344CB8AC3E}">
        <p14:creationId xmlns:p14="http://schemas.microsoft.com/office/powerpoint/2010/main" val="630161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C077177-CE14-4273-A319-A058F3C0336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ТАБЛИЦА 1, АБЛЯЦИИ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2C0A1B0-69A7-481F-A2B1-3BA79B1418C5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Фильтрация даёт основной выигрыш во времени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87514A3-7FFF-4E8E-8F68-8EC2C1C68754}"/>
              </a:ext>
            </a:extLst>
          </p:cNvPr>
          <p:cNvSpPr>
            <a:spLocks noGrp="1"/>
          </p:cNvSpPr>
          <p:nvPr/>
        </p:nvSpPr>
        <p:spPr>
          <a:xfrm>
            <a:off x="11068050" y="6419850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EC2B3C3-05AE-4D71-8FCA-EF4A394F753E}"/>
              </a:ext>
            </a:extLst>
          </p:cNvPr>
          <p:cNvGraphicFramePr/>
          <p:nvPr/>
        </p:nvGraphicFramePr>
        <p:xfrm>
          <a:off x="609600" y="1971675"/>
          <a:ext cx="10953750" cy="3143250"/>
        </p:xfrm>
        <a:graphic>
          <a:graphicData uri="http://schemas.openxmlformats.org/drawingml/2006/table">
            <a:tbl>
              <a:tblPr/>
              <a:tblGrid>
                <a:gridCol w="542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Вариант CCE</a:t>
                      </a:r>
                    </a:p>
                  </a:txBody>
                  <a:tcPr anchor="ctr">
                    <a:solidFill>
                      <a:srgbClr val="152F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Память, MB</a:t>
                      </a:r>
                    </a:p>
                  </a:txBody>
                  <a:tcPr anchor="ctr">
                    <a:solidFill>
                      <a:srgbClr val="152F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Loss + backward, ms</a:t>
                      </a:r>
                    </a:p>
                  </a:txBody>
                  <a:tcPr anchor="ctr">
                    <a:solidFill>
                      <a:srgbClr val="152F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CCE</a:t>
                      </a:r>
                    </a:p>
                  </a:txBody>
                  <a:tcPr anchor="ctr">
                    <a:solidFill>
                      <a:srgbClr val="E4F0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1 164</a:t>
                      </a:r>
                    </a:p>
                  </a:txBody>
                  <a:tcPr anchor="ctr">
                    <a:solidFill>
                      <a:srgbClr val="E4F0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145</a:t>
                      </a:r>
                    </a:p>
                  </a:txBody>
                  <a:tcPr anchor="ctr">
                    <a:solidFill>
                      <a:srgbClr val="E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Без сортировки словаря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1 162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Без фильтрации градиентов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1 162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 компенсацией Kahan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2 326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2E6BB40-2AC0-43CB-AD3C-3E83B84F19F7}"/>
              </a:ext>
            </a:extLst>
          </p:cNvPr>
          <p:cNvSpPr>
            <a:spLocks noGrp="1"/>
          </p:cNvSpPr>
          <p:nvPr/>
        </p:nvSpPr>
        <p:spPr>
          <a:xfrm>
            <a:off x="609600" y="5467350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025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Сортировка группирует слова с большими вкладами,</a:t>
            </a:r>
          </a:p>
          <a:p>
            <a:pPr algn="l">
              <a:defRPr sz="2025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чтобы ядро чаще пропускало целые блоки.</a:t>
            </a:r>
          </a:p>
        </p:txBody>
      </p:sp>
    </p:spTree>
    <p:extLst>
      <p:ext uri="{BB962C8B-B14F-4D97-AF65-F5344CB8AC3E}">
        <p14:creationId xmlns:p14="http://schemas.microsoft.com/office/powerpoint/2010/main" val="2053029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C9AAA9A-B654-44B0-826D-2828935510E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ТАБЛИЦА 1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419D0DE-F4D6-4FE6-B9E5-843C6451496B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Память головы близка к нижней границе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AD3BFE7-0901-4A45-8697-96CE01874991}"/>
              </a:ext>
            </a:extLst>
          </p:cNvPr>
          <p:cNvSpPr>
            <a:spLocks noGrp="1"/>
          </p:cNvSpPr>
          <p:nvPr/>
        </p:nvSpPr>
        <p:spPr>
          <a:xfrm>
            <a:off x="11068050" y="6419850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A137336-4944-466B-8C94-C15889C7352D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0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66974"/>
                </a:solidFill>
                <a:latin typeface="DejaVu Sans"/>
                <a:ea typeface="DejaVu Sans"/>
                <a:cs typeface="DejaVu Sans"/>
              </a:rPr>
              <a:t>Gemma 2 (2B), 8 192 токена, A100 80 GB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BAFC8DFA-C07A-4202-8A6D-2D0F008AF7B8}"/>
              </a:ext>
            </a:extLst>
          </p:cNvPr>
          <p:cNvGraphicFramePr/>
          <p:nvPr/>
        </p:nvGraphicFramePr>
        <p:xfrm>
          <a:off x="609600" y="2266950"/>
          <a:ext cx="10953750" cy="3371851"/>
        </p:xfrm>
        <a:graphic>
          <a:graphicData uri="http://schemas.openxmlformats.org/drawingml/2006/table">
            <a:tbl>
              <a:tblPr/>
              <a:tblGrid>
                <a:gridCol w="433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9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1693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Метод</a:t>
                      </a:r>
                    </a:p>
                  </a:txBody>
                  <a:tcPr anchor="ctr">
                    <a:solidFill>
                      <a:srgbClr val="152F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Loss, MB</a:t>
                      </a:r>
                    </a:p>
                  </a:txBody>
                  <a:tcPr anchor="ctr">
                    <a:solidFill>
                      <a:srgbClr val="152F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Loss + grad, MB</a:t>
                      </a:r>
                    </a:p>
                  </a:txBody>
                  <a:tcPr anchor="ctr">
                    <a:solidFill>
                      <a:srgbClr val="152F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Время, ms</a:t>
                      </a:r>
                    </a:p>
                  </a:txBody>
                  <a:tcPr anchor="ctr">
                    <a:solidFill>
                      <a:srgbClr val="152F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69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Обычный PyTorch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24 000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28 000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69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torch.compile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4 000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16 000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69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TorchTune, 8 блоков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8 000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9 631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169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1 474*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1 474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693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CCE</a:t>
                      </a:r>
                    </a:p>
                  </a:txBody>
                  <a:tcPr anchor="ctr">
                    <a:solidFill>
                      <a:srgbClr val="E4F0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anchor="ctr">
                    <a:solidFill>
                      <a:srgbClr val="E4F0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1 164</a:t>
                      </a:r>
                    </a:p>
                  </a:txBody>
                  <a:tcPr anchor="ctr">
                    <a:solidFill>
                      <a:srgbClr val="E4F0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145</a:t>
                      </a:r>
                    </a:p>
                  </a:txBody>
                  <a:tcPr anchor="ctr">
                    <a:solidFill>
                      <a:srgbClr val="E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169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Нижняя граница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1 161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4559EFF-CBEA-46A5-8FDA-23A2D146CEC3}"/>
              </a:ext>
            </a:extLst>
          </p:cNvPr>
          <p:cNvSpPr>
            <a:spLocks noGrp="1"/>
          </p:cNvSpPr>
          <p:nvPr/>
        </p:nvSpPr>
        <p:spPr>
          <a:xfrm>
            <a:off x="609600" y="5753100"/>
            <a:ext cx="10763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9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CCE хранит градиенты, но почти не тратит память на logits.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1F9FBB8-3BE0-4BAC-BD2E-C3BBAD321EB2}"/>
              </a:ext>
            </a:extLst>
          </p:cNvPr>
          <p:cNvSpPr>
            <a:spLocks noGrp="1"/>
          </p:cNvSpPr>
          <p:nvPr/>
        </p:nvSpPr>
        <p:spPr>
          <a:xfrm>
            <a:off x="609600" y="6172200"/>
            <a:ext cx="10763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350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66974"/>
                </a:solidFill>
                <a:latin typeface="DejaVu Sans"/>
                <a:ea typeface="DejaVu Sans"/>
                <a:cs typeface="DejaVu Sans"/>
              </a:rPr>
              <a:t>*Liger одновременно считает loss и градиенты.</a:t>
            </a:r>
          </a:p>
        </p:txBody>
      </p:sp>
    </p:spTree>
    <p:extLst>
      <p:ext uri="{BB962C8B-B14F-4D97-AF65-F5344CB8AC3E}">
        <p14:creationId xmlns:p14="http://schemas.microsoft.com/office/powerpoint/2010/main" val="1105411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4BBA1F6-F488-42F4-9F0A-E896C44E2AA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ТАБЛИЦА A2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318A5B1-9DEB-4F96-9938-C944218C9568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Пересчёт logits и затраты на backward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EAB9622-6D37-483D-B98D-FD1CBB51A1AC}"/>
              </a:ext>
            </a:extLst>
          </p:cNvPr>
          <p:cNvSpPr>
            <a:spLocks noGrp="1"/>
          </p:cNvSpPr>
          <p:nvPr/>
        </p:nvSpPr>
        <p:spPr>
          <a:xfrm>
            <a:off x="11068050" y="6419850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F056015-BAA6-4499-A622-1ECE26C6C4CE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10763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0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66974"/>
                </a:solidFill>
                <a:latin typeface="DejaVu Sans"/>
                <a:ea typeface="DejaVu Sans"/>
                <a:cs typeface="DejaVu Sans"/>
              </a:rPr>
              <a:t>Gemma 2 (2B), 8 192 токена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F3AA3A88-CAFA-4F16-AE3B-62110722C9EF}"/>
              </a:ext>
            </a:extLst>
          </p:cNvPr>
          <p:cNvGraphicFramePr/>
          <p:nvPr/>
        </p:nvGraphicFramePr>
        <p:xfrm>
          <a:off x="609600" y="2381250"/>
          <a:ext cx="10953750" cy="2714625"/>
        </p:xfrm>
        <a:graphic>
          <a:graphicData uri="http://schemas.openxmlformats.org/drawingml/2006/table">
            <a:tbl>
              <a:tblPr/>
              <a:tblGrid>
                <a:gridCol w="619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Операция</a:t>
                      </a:r>
                    </a:p>
                  </a:txBody>
                  <a:tcPr anchor="ctr">
                    <a:solidFill>
                      <a:srgbClr val="152F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Обычный CE, ms</a:t>
                      </a:r>
                    </a:p>
                  </a:txBody>
                  <a:tcPr anchor="ctr">
                    <a:solidFill>
                      <a:srgbClr val="152F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CCE, ms</a:t>
                      </a:r>
                    </a:p>
                  </a:txBody>
                  <a:tcPr anchor="ctr">
                    <a:solidFill>
                      <a:srgbClr val="152F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Градиент cross-entropy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4,7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Градиент softcap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4,7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Градиент входов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Градиент весов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7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555B5D6-A43F-4C5F-882D-292D2D261AD7}"/>
              </a:ext>
            </a:extLst>
          </p:cNvPr>
          <p:cNvSpPr>
            <a:spLocks noGrp="1"/>
          </p:cNvSpPr>
          <p:nvPr/>
        </p:nvSpPr>
        <p:spPr>
          <a:xfrm>
            <a:off x="609600" y="5419725"/>
            <a:ext cx="10953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DE6C4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175" b="1">
                <a:solidFill>
                  <a:srgbClr val="DE6C47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DE6C47"/>
                </a:solidFill>
                <a:latin typeface="DejaVu Sans"/>
                <a:ea typeface="DejaVu Sans"/>
                <a:cs typeface="DejaVu Sans"/>
              </a:rPr>
              <a:t>Пересчёт logits в CCE занимает 45 ms.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4770EB5-FF57-4716-A9BD-51D9B8765653}"/>
              </a:ext>
            </a:extLst>
          </p:cNvPr>
          <p:cNvSpPr>
            <a:spLocks noGrp="1"/>
          </p:cNvSpPr>
          <p:nvPr/>
        </p:nvSpPr>
        <p:spPr>
          <a:xfrm>
            <a:off x="609600" y="5848350"/>
            <a:ext cx="10953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Экономия на других операциях покрывает этот пересчёт.</a:t>
            </a:r>
          </a:p>
        </p:txBody>
      </p:sp>
    </p:spTree>
    <p:extLst>
      <p:ext uri="{BB962C8B-B14F-4D97-AF65-F5344CB8AC3E}">
        <p14:creationId xmlns:p14="http://schemas.microsoft.com/office/powerpoint/2010/main" val="1077925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FA7176E-D482-4042-8FC2-3791836AF1B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РИСУНОК 4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9530E90-3EF0-46B5-B2BC-A85EC2CF14F3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В fine-tuning кривые loss совпадают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BC5D613-A692-45DB-A328-BF55C60D29EE}"/>
              </a:ext>
            </a:extLst>
          </p:cNvPr>
          <p:cNvSpPr>
            <a:spLocks noGrp="1"/>
          </p:cNvSpPr>
          <p:nvPr/>
        </p:nvSpPr>
        <p:spPr>
          <a:xfrm>
            <a:off x="11068050" y="6419850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413F9DA-E2D2-4330-B4AB-BA28F80D2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2382257" y="1685925"/>
            <a:ext cx="7427486" cy="4257675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B7A1356-2D10-46F5-9AAD-7E68D1FE0088}"/>
              </a:ext>
            </a:extLst>
          </p:cNvPr>
          <p:cNvSpPr>
            <a:spLocks noGrp="1"/>
          </p:cNvSpPr>
          <p:nvPr/>
        </p:nvSpPr>
        <p:spPr>
          <a:xfrm>
            <a:off x="609600" y="5991225"/>
            <a:ext cx="10953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87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66974"/>
                </a:solidFill>
                <a:latin typeface="DejaVu Sans"/>
                <a:ea typeface="DejaVu Sans"/>
                <a:cs typeface="DejaVu Sans"/>
              </a:rPr>
              <a:t>Alpaca, четыре модели, среднее по пяти запускам</a:t>
            </a:r>
          </a:p>
        </p:txBody>
      </p:sp>
    </p:spTree>
    <p:extLst>
      <p:ext uri="{BB962C8B-B14F-4D97-AF65-F5344CB8AC3E}">
        <p14:creationId xmlns:p14="http://schemas.microsoft.com/office/powerpoint/2010/main" val="5007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EB6F4C0-06A6-4E47-819E-93447CC8479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buNone/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ТОЧНОСТЬ ПРИ PRETRAINING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F513779-857C-4644-BFAF-659E913D7288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buNone/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CCE-Kahan-FullC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8846B27-38E5-4B9C-9255-F25FB167651C}"/>
              </a:ext>
            </a:extLst>
          </p:cNvPr>
          <p:cNvSpPr>
            <a:spLocks noGrp="1"/>
          </p:cNvSpPr>
          <p:nvPr/>
        </p:nvSpPr>
        <p:spPr>
          <a:xfrm>
            <a:off x="11068050" y="6419850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buNone/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F6F3C7A-B71B-419B-85D9-38B6A88D1A95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5238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buNone/>
              <a:defRPr sz="2175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Kahan: точнее суммирование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52B3AB9-ED65-4160-9161-BAABB4B2C332}"/>
              </a:ext>
            </a:extLst>
          </p:cNvPr>
          <p:cNvSpPr>
            <a:spLocks noGrp="1"/>
          </p:cNvSpPr>
          <p:nvPr/>
        </p:nvSpPr>
        <p:spPr>
          <a:xfrm>
            <a:off x="609600" y="3362325"/>
            <a:ext cx="523875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buNone/>
              <a:def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При сложении малых градиентов</a:t>
            </a:r>
          </a:p>
          <a:p>
            <a:pPr algn="l">
              <a:buNone/>
              <a:def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часть вклада теряется в BF16.</a:t>
            </a:r>
          </a:p>
          <a:p>
            <a:pPr algn="l">
              <a:buNone/>
              <a:def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Kahan хранит ошибку округления</a:t>
            </a:r>
          </a:p>
          <a:p>
            <a:pPr algn="l">
              <a:buNone/>
              <a:def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и учитывает её при сложении.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7D567EA-2C34-4AB0-A157-029C07307DBA}"/>
              </a:ext>
            </a:extLst>
          </p:cNvPr>
          <p:cNvSpPr>
            <a:spLocks noGrp="1"/>
          </p:cNvSpPr>
          <p:nvPr/>
        </p:nvSpPr>
        <p:spPr>
          <a:xfrm>
            <a:off x="6438900" y="2571750"/>
            <a:ext cx="51054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DE6C4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buNone/>
              <a:defRPr sz="2175" b="1">
                <a:solidFill>
                  <a:srgbClr val="DE6C47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DE6C47"/>
                </a:solidFill>
                <a:latin typeface="DejaVu Sans"/>
                <a:ea typeface="DejaVu Sans"/>
                <a:cs typeface="DejaVu Sans"/>
              </a:rPr>
              <a:t>FullC: полный градиент головы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2B2322C-4D6C-47E1-B4C4-4EE7E7947CD5}"/>
              </a:ext>
            </a:extLst>
          </p:cNvPr>
          <p:cNvSpPr>
            <a:spLocks noGrp="1"/>
          </p:cNvSpPr>
          <p:nvPr/>
        </p:nvSpPr>
        <p:spPr>
          <a:xfrm>
            <a:off x="6438900" y="3362325"/>
            <a:ext cx="510540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buNone/>
              <a:def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C — веса выходной головы.</a:t>
            </a:r>
          </a:p>
          <a:p>
            <a:pPr algn="l">
              <a:buNone/>
              <a:def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Малые вклады в её градиент</a:t>
            </a:r>
          </a:p>
          <a:p>
            <a:pPr algn="l">
              <a:buNone/>
              <a:def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не отбрасываются. Редкие токены</a:t>
            </a:r>
          </a:p>
          <a:p>
            <a:pPr algn="l">
              <a:buNone/>
              <a:def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сохраняют сигнал для обучения.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3EFBE05-8268-4D52-B8C2-245E6226867B}"/>
              </a:ext>
            </a:extLst>
          </p:cNvPr>
          <p:cNvSpPr>
            <a:spLocks noGrp="1"/>
          </p:cNvSpPr>
          <p:nvPr/>
        </p:nvSpPr>
        <p:spPr>
          <a:xfrm>
            <a:off x="609600" y="5019675"/>
            <a:ext cx="10906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buNone/>
              <a:defRPr sz="2250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Цена большей точности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44532FD-43D4-401A-BAE7-B33B71E9ABBD}"/>
              </a:ext>
            </a:extLst>
          </p:cNvPr>
          <p:cNvSpPr>
            <a:spLocks noGrp="1"/>
          </p:cNvSpPr>
          <p:nvPr/>
        </p:nvSpPr>
        <p:spPr>
          <a:xfrm>
            <a:off x="609600" y="5648325"/>
            <a:ext cx="1090612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buNone/>
              <a:def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Больше временных буферов и вычислений, чем у обычного CCE.</a:t>
            </a:r>
          </a:p>
          <a:p>
            <a:pPr algn="l">
              <a:buNone/>
              <a:def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Полная матрица logits по-прежнему не хранится.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07C2AA6-6B6A-4198-A9DF-A0061C676484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109061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025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>
              <a:defRPr sz="2025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r>
              <a:rPr sz="2025">
                <a:solidFill>
                  <a:srgbClr val="566974"/>
                </a:solidFill>
                <a:latin typeface="DejaVu Sans"/>
                <a:ea typeface="DejaVu Sans"/>
                <a:cs typeface="DejaVu Sans"/>
              </a:rPr>
              <a:t>CCE для pretraining: меньше ошибок при вычислении градиентов.</a:t>
            </a:r>
          </a:p>
        </p:txBody>
      </p:sp>
    </p:spTree>
    <p:extLst>
      <p:ext uri="{BB962C8B-B14F-4D97-AF65-F5344CB8AC3E}">
        <p14:creationId xmlns:p14="http://schemas.microsoft.com/office/powerpoint/2010/main" val="447230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6E7485B-5924-43EF-9E0C-6EF8D58B225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РИСУНОК 5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5B68AFC-9138-44F4-8373-5907CB982CB7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CCE-Kahan-FullC сохраняет perplexity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62FE8AB-6F59-484E-9AC5-D351145272FE}"/>
              </a:ext>
            </a:extLst>
          </p:cNvPr>
          <p:cNvSpPr>
            <a:spLocks noGrp="1"/>
          </p:cNvSpPr>
          <p:nvPr/>
        </p:nvSpPr>
        <p:spPr>
          <a:xfrm>
            <a:off x="11068050" y="6419850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8E657B2-0561-4033-98DB-54ACE9CC8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2440414" y="1657350"/>
            <a:ext cx="7311172" cy="4191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4AB4274-DB45-4A56-BF0A-4270E44F1248}"/>
              </a:ext>
            </a:extLst>
          </p:cNvPr>
          <p:cNvSpPr>
            <a:spLocks noGrp="1"/>
          </p:cNvSpPr>
          <p:nvPr/>
        </p:nvSpPr>
        <p:spPr>
          <a:xfrm>
            <a:off x="609600" y="6010275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87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66974"/>
                </a:solidFill>
                <a:latin typeface="DejaVu Sans"/>
                <a:ea typeface="DejaVu Sans"/>
                <a:cs typeface="DejaVu Sans"/>
              </a:rPr>
              <a:t>Perplexity: меньше значит лучше. OpenWebText, 5 запусков.</a:t>
            </a:r>
          </a:p>
        </p:txBody>
      </p:sp>
    </p:spTree>
    <p:extLst>
      <p:ext uri="{BB962C8B-B14F-4D97-AF65-F5344CB8AC3E}">
        <p14:creationId xmlns:p14="http://schemas.microsoft.com/office/powerpoint/2010/main" val="1147969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32A6878-BCA2-49FE-8F17-A2EC95F016AB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ТАБЛИЦА A3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1BD38B7-73E1-4EBE-92FF-07213AA906F8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CCE экономит память у разных моделей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F946D19-758C-4600-AADC-0B961440673C}"/>
              </a:ext>
            </a:extLst>
          </p:cNvPr>
          <p:cNvSpPr>
            <a:spLocks noGrp="1"/>
          </p:cNvSpPr>
          <p:nvPr/>
        </p:nvSpPr>
        <p:spPr>
          <a:xfrm>
            <a:off x="11068050" y="6419850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C66285E5-6F5E-472B-A6C1-47469DCDCBFB}"/>
              </a:ext>
            </a:extLst>
          </p:cNvPr>
          <p:cNvGraphicFramePr/>
          <p:nvPr/>
        </p:nvGraphicFramePr>
        <p:xfrm>
          <a:off x="609600" y="1981200"/>
          <a:ext cx="10953750" cy="3371851"/>
        </p:xfrm>
        <a:graphic>
          <a:graphicData uri="http://schemas.openxmlformats.org/drawingml/2006/table">
            <a:tbl>
              <a:tblPr/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1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1693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Модель</a:t>
                      </a:r>
                    </a:p>
                  </a:txBody>
                  <a:tcPr anchor="ctr">
                    <a:solidFill>
                      <a:srgbClr val="152F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Память обычная / CCE, MB</a:t>
                      </a:r>
                    </a:p>
                  </a:txBody>
                  <a:tcPr anchor="ctr">
                    <a:solidFill>
                      <a:srgbClr val="152F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Время CCE / compile, ms</a:t>
                      </a:r>
                    </a:p>
                  </a:txBody>
                  <a:tcPr anchor="ctr">
                    <a:solidFill>
                      <a:srgbClr val="152F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69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Gemma 2 9B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28 000 / 1 809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208 / 207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69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Gemma 2 27B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28 000 / 2 325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281 / 256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69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Mistral NeMo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12 288 / 1 362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180 / 143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169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Phi 3.5 Mini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3 006 / 236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34 / 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69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Qwen 2.5 7B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14 256 / 1 097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136 / 121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1693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Qwen 2.5 32B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14 256 / 1 567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193 / 165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3228481-8CDF-4037-BE3B-6AB487AD32A9}"/>
              </a:ext>
            </a:extLst>
          </p:cNvPr>
          <p:cNvSpPr>
            <a:spLocks noGrp="1"/>
          </p:cNvSpPr>
          <p:nvPr/>
        </p:nvSpPr>
        <p:spPr>
          <a:xfrm>
            <a:off x="609600" y="573405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025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Большой словарь усиливает выгоду. Ускорение зависит от модели.</a:t>
            </a:r>
          </a:p>
        </p:txBody>
      </p:sp>
    </p:spTree>
    <p:extLst>
      <p:ext uri="{BB962C8B-B14F-4D97-AF65-F5344CB8AC3E}">
        <p14:creationId xmlns:p14="http://schemas.microsoft.com/office/powerpoint/2010/main" val="16995598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B461778-DA5C-4268-A6DD-4310503F8AC8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РИСУНКИ A1 И A2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B1D8AA3-F75B-44C1-9A67-914854EB7626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Время растёт вместе с числом токенов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4E5627E-3643-4D21-9ACD-B708C74C881A}"/>
              </a:ext>
            </a:extLst>
          </p:cNvPr>
          <p:cNvSpPr>
            <a:spLocks noGrp="1"/>
          </p:cNvSpPr>
          <p:nvPr/>
        </p:nvSpPr>
        <p:spPr>
          <a:xfrm>
            <a:off x="11068050" y="6419850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F982560-1493-4D13-BB9E-A94BE9A426DB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100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Gemma 2 2B: время, ms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B11686B-FE72-4514-BB52-757BA6AFEF6D}"/>
              </a:ext>
            </a:extLst>
          </p:cNvPr>
          <p:cNvSpPr>
            <a:spLocks noGrp="1"/>
          </p:cNvSpPr>
          <p:nvPr/>
        </p:nvSpPr>
        <p:spPr>
          <a:xfrm>
            <a:off x="6267450" y="17526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100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Phi 3.5 Mini: время, ms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DE82E7C-5759-423B-B3F6-DDC4D98B4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09600" y="2327579"/>
            <a:ext cx="5238750" cy="320296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5E9CE02-04D0-4DC8-9C0E-6C383CD53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93741" y="2276475"/>
            <a:ext cx="5186169" cy="3305175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DE4E9AA-E41D-46E4-A95B-E8DDB11A5911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53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875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На малых batch важны накладные расходы. На больших важны вычисления.</a:t>
            </a:r>
          </a:p>
        </p:txBody>
      </p:sp>
    </p:spTree>
    <p:extLst>
      <p:ext uri="{BB962C8B-B14F-4D97-AF65-F5344CB8AC3E}">
        <p14:creationId xmlns:p14="http://schemas.microsoft.com/office/powerpoint/2010/main" val="1002695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B5BE012-948A-423E-AA6B-84198BD63A34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ТАБЛИЦЫ 1 И A1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653708D-9C16-4B14-A831-505C6F48D088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Игнорируемые токены можно убрать заранее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3EEE7A5-1D04-4553-9722-8CFF29EFFD6D}"/>
              </a:ext>
            </a:extLst>
          </p:cNvPr>
          <p:cNvSpPr>
            <a:spLocks noGrp="1"/>
          </p:cNvSpPr>
          <p:nvPr/>
        </p:nvSpPr>
        <p:spPr>
          <a:xfrm>
            <a:off x="11068050" y="6419850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1131D8F-3C4A-4FA3-A039-47C4EA06A57A}"/>
              </a:ext>
            </a:extLst>
          </p:cNvPr>
          <p:cNvSpPr>
            <a:spLocks noGrp="1"/>
          </p:cNvSpPr>
          <p:nvPr/>
        </p:nvSpPr>
        <p:spPr>
          <a:xfrm>
            <a:off x="609600" y="1704975"/>
            <a:ext cx="1095375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175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Padding и часть prompt не участвуют в loss.</a:t>
            </a:r>
          </a:p>
          <a:p>
            <a:pPr algn="l">
              <a:defRPr sz="2175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Их logits можно не вычислять.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3C685866-D846-4173-89AD-A4DF40B48789}"/>
              </a:ext>
            </a:extLst>
          </p:cNvPr>
          <p:cNvGraphicFramePr/>
          <p:nvPr/>
        </p:nvGraphicFramePr>
        <p:xfrm>
          <a:off x="609600" y="2924175"/>
          <a:ext cx="10953750" cy="2766060"/>
        </p:xfrm>
        <a:graphic>
          <a:graphicData uri="http://schemas.openxmlformats.org/drawingml/2006/table">
            <a:tbl>
              <a:tblPr/>
              <a:tblGrid>
                <a:gridCol w="40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Метод</a:t>
                      </a:r>
                    </a:p>
                  </a:txBody>
                  <a:tcPr anchor="ctr">
                    <a:solidFill>
                      <a:srgbClr val="152F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Все токены, ms</a:t>
                      </a:r>
                    </a:p>
                  </a:txBody>
                  <a:tcPr anchor="ctr">
                    <a:solidFill>
                      <a:srgbClr val="152F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Без ignored, ms</a:t>
                      </a:r>
                    </a:p>
                  </a:txBody>
                  <a:tcPr anchor="ctr">
                    <a:solidFill>
                      <a:srgbClr val="152F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Память после, MB</a:t>
                      </a:r>
                    </a:p>
                  </a:txBody>
                  <a:tcPr anchor="ctr">
                    <a:solidFill>
                      <a:srgbClr val="152F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Обычный PyTorch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12 826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torch.compile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7 337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CCE</a:t>
                      </a:r>
                    </a:p>
                  </a:txBody>
                  <a:tcPr anchor="ctr">
                    <a:solidFill>
                      <a:srgbClr val="E4F0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145</a:t>
                      </a:r>
                    </a:p>
                  </a:txBody>
                  <a:tcPr anchor="ctr">
                    <a:solidFill>
                      <a:srgbClr val="E4F0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54</a:t>
                      </a:r>
                    </a:p>
                  </a:txBody>
                  <a:tcPr anchor="ctr">
                    <a:solidFill>
                      <a:srgbClr val="E4F0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1 164</a:t>
                      </a:r>
                    </a:p>
                  </a:txBody>
                  <a:tcPr anchor="ctr">
                    <a:solidFill>
                      <a:srgbClr val="E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0">
                          <a:solidFill>
                            <a:srgbClr val="152F3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1 314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59836FF-E7B8-4B98-890A-DABE520444C4}"/>
              </a:ext>
            </a:extLst>
          </p:cNvPr>
          <p:cNvSpPr>
            <a:spLocks noGrp="1"/>
          </p:cNvSpPr>
          <p:nvPr/>
        </p:nvSpPr>
        <p:spPr>
          <a:xfrm>
            <a:off x="609600" y="5886450"/>
            <a:ext cx="10953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9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Ускорение помогает и другим реализациям cross-entropy.</a:t>
            </a:r>
          </a:p>
        </p:txBody>
      </p:sp>
    </p:spTree>
    <p:extLst>
      <p:ext uri="{BB962C8B-B14F-4D97-AF65-F5344CB8AC3E}">
        <p14:creationId xmlns:p14="http://schemas.microsoft.com/office/powerpoint/2010/main" val="1444337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9792CD3-6912-4A60-A3E3-343D03E0946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ПРАКТИЧЕСКИЕ ОГРАНИЧЕНИЯ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FA00229-0B5F-437C-A41E-A463E5C1B2E7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Когда CCE полезен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7C54789-EC1B-4191-A05B-61A82A69D2FF}"/>
              </a:ext>
            </a:extLst>
          </p:cNvPr>
          <p:cNvSpPr>
            <a:spLocks noGrp="1"/>
          </p:cNvSpPr>
          <p:nvPr/>
        </p:nvSpPr>
        <p:spPr>
          <a:xfrm>
            <a:off x="11068050" y="6419850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4B27143-CB0F-451C-8892-30C546F16DC3}"/>
              </a:ext>
            </a:extLst>
          </p:cNvPr>
          <p:cNvSpPr>
            <a:spLocks noGrp="1"/>
          </p:cNvSpPr>
          <p:nvPr/>
        </p:nvSpPr>
        <p:spPr>
          <a:xfrm>
            <a:off x="609600" y="2085975"/>
            <a:ext cx="52006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325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Большой словарь и batch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6E4C826-4A10-45F4-AF19-C2661F80EFBC}"/>
              </a:ext>
            </a:extLst>
          </p:cNvPr>
          <p:cNvSpPr>
            <a:spLocks noGrp="1"/>
          </p:cNvSpPr>
          <p:nvPr/>
        </p:nvSpPr>
        <p:spPr>
          <a:xfrm>
            <a:off x="609600" y="2943225"/>
            <a:ext cx="520065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175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Много токенов в batch,</a:t>
            </a:r>
          </a:p>
          <a:p>
            <a:pPr algn="l">
              <a:defRPr sz="2175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большой размер словаря,</a:t>
            </a:r>
          </a:p>
          <a:p>
            <a:pPr algn="l">
              <a:defRPr sz="2175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нехватка GPU-памяти.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9AD7F26-00F5-43A4-AFBC-8B890D7147A9}"/>
              </a:ext>
            </a:extLst>
          </p:cNvPr>
          <p:cNvSpPr>
            <a:spLocks noGrp="1"/>
          </p:cNvSpPr>
          <p:nvPr/>
        </p:nvSpPr>
        <p:spPr>
          <a:xfrm>
            <a:off x="6477000" y="2085975"/>
            <a:ext cx="50673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DE6C47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325" b="1">
                <a:solidFill>
                  <a:srgbClr val="DE6C47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DE6C47"/>
                </a:solidFill>
                <a:latin typeface="DejaVu Sans"/>
                <a:ea typeface="DejaVu Sans"/>
                <a:cs typeface="DejaVu Sans"/>
              </a:rPr>
              <a:t>Что зависит от задачи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56F4AF2-95D0-4EC6-AF4F-EAFE502EDFA4}"/>
              </a:ext>
            </a:extLst>
          </p:cNvPr>
          <p:cNvSpPr>
            <a:spLocks noGrp="1"/>
          </p:cNvSpPr>
          <p:nvPr/>
        </p:nvSpPr>
        <p:spPr>
          <a:xfrm>
            <a:off x="6477000" y="2943225"/>
            <a:ext cx="506730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175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Редкие слова при pretraining.</a:t>
            </a:r>
          </a:p>
          <a:p>
            <a:pPr algn="l">
              <a:defRPr sz="2175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Точность накопления.</a:t>
            </a:r>
          </a:p>
          <a:p>
            <a:pPr algn="l">
              <a:defRPr sz="2175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Скорость на конкретном GPU.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9448A36-5955-4BEF-AAEC-798C96BF20FB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10858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400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Формула loss сохраняется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EB82BCD-CEBF-44BF-83B4-ECBA32E6D7A3}"/>
              </a:ext>
            </a:extLst>
          </p:cNvPr>
          <p:cNvSpPr>
            <a:spLocks noGrp="1"/>
          </p:cNvSpPr>
          <p:nvPr/>
        </p:nvSpPr>
        <p:spPr>
          <a:xfrm>
            <a:off x="609600" y="5638800"/>
            <a:ext cx="10858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025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Выигрыш CCE даёт способ вычисления linear и cross-entropy.</a:t>
            </a:r>
          </a:p>
          <a:p>
            <a:pPr algn="l">
              <a:defRPr sz="2025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Размер словаря и необходимые градиенты остаются прежними.</a:t>
            </a:r>
          </a:p>
        </p:txBody>
      </p:sp>
    </p:spTree>
    <p:extLst>
      <p:ext uri="{BB962C8B-B14F-4D97-AF65-F5344CB8AC3E}">
        <p14:creationId xmlns:p14="http://schemas.microsoft.com/office/powerpoint/2010/main" val="18379486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BAFF12B-14D3-4EEF-80EC-479C6D5A58FB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ВЛИЯНИЕ РАБОТЫ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9114D79-2110-43CD-ABBB-A6A8CFABC2C8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Объединённый loss появился в PyTorch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2CF66AE-3209-4020-8B86-C4056EB8A6B9}"/>
              </a:ext>
            </a:extLst>
          </p:cNvPr>
          <p:cNvSpPr>
            <a:spLocks noGrp="1"/>
          </p:cNvSpPr>
          <p:nvPr/>
        </p:nvSpPr>
        <p:spPr>
          <a:xfrm>
            <a:off x="11068050" y="6419850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2BD19AA-38A0-432B-A70F-2F3BB6D6854E}"/>
              </a:ext>
            </a:extLst>
          </p:cNvPr>
          <p:cNvSpPr>
            <a:spLocks noGrp="1"/>
          </p:cNvSpPr>
          <p:nvPr/>
        </p:nvSpPr>
        <p:spPr>
          <a:xfrm>
            <a:off x="609600" y="1771650"/>
            <a:ext cx="1095375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625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625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PyTorch 2.13 добавил LinearCrossEntropyLoss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4722D54-685D-49DB-BF5C-4E1B091E14E7}"/>
              </a:ext>
            </a:extLst>
          </p:cNvPr>
          <p:cNvSpPr>
            <a:spLocks noGrp="1"/>
          </p:cNvSpPr>
          <p:nvPr/>
        </p:nvSpPr>
        <p:spPr>
          <a:xfrm>
            <a:off x="609600" y="2847975"/>
            <a:ext cx="109537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175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 dirty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В </a:t>
            </a:r>
            <a:r>
              <a:rPr lang="ru-RU" sz="2175" b="0" dirty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при</a:t>
            </a:r>
            <a:r>
              <a:rPr sz="2175" b="0" dirty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75" b="0" dirty="0" err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реализации</a:t>
            </a:r>
            <a:r>
              <a:rPr sz="2175" b="0" dirty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75" b="0" dirty="0" err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разработчики</a:t>
            </a:r>
            <a:r>
              <a:rPr sz="2175" b="0" dirty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75" b="0" dirty="0" err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прямо</a:t>
            </a:r>
            <a:endParaRPr sz="2175" b="0" dirty="0">
              <a:solidFill>
                <a:srgbClr val="152F3C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2175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 dirty="0" err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ссылались</a:t>
            </a:r>
            <a:r>
              <a:rPr sz="2175" b="0" dirty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75" b="0" dirty="0" err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на</a:t>
            </a:r>
            <a:r>
              <a:rPr sz="2175" b="0" dirty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 Cut Cross-Entropy.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155CA69-49F2-4F8E-B771-10EDAB4F1A10}"/>
              </a:ext>
            </a:extLst>
          </p:cNvPr>
          <p:cNvSpPr>
            <a:spLocks noGrp="1"/>
          </p:cNvSpPr>
          <p:nvPr/>
        </p:nvSpPr>
        <p:spPr>
          <a:xfrm>
            <a:off x="609600" y="4086225"/>
            <a:ext cx="10953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17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F.linear_cross_entropy(e, w, y, options=options)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053D09B-EEEB-42F3-B9BD-B3000C56E5F3}"/>
              </a:ext>
            </a:extLst>
          </p:cNvPr>
          <p:cNvSpPr>
            <a:spLocks noGrp="1"/>
          </p:cNvSpPr>
          <p:nvPr/>
        </p:nvSpPr>
        <p:spPr>
          <a:xfrm>
            <a:off x="609600" y="4962525"/>
            <a:ext cx="109537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10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 dirty="0" err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Встроенный</a:t>
            </a:r>
            <a:r>
              <a:rPr sz="2100" b="0" dirty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вариант</a:t>
            </a:r>
            <a:r>
              <a:rPr sz="2100" b="0" dirty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считает</a:t>
            </a:r>
            <a:r>
              <a:rPr sz="2100" b="0" dirty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 logits </a:t>
            </a:r>
            <a:r>
              <a:rPr sz="2100" b="0" dirty="0" err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блоками</a:t>
            </a:r>
            <a:r>
              <a:rPr sz="2100" b="0" dirty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по</a:t>
            </a:r>
            <a:r>
              <a:rPr sz="2100" b="0" dirty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токенам</a:t>
            </a:r>
            <a:r>
              <a:rPr sz="2100" b="0" dirty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.</a:t>
            </a:r>
          </a:p>
          <a:p>
            <a:pPr algn="l">
              <a:defRPr sz="2100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 dirty="0" err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Для</a:t>
            </a:r>
            <a:r>
              <a:rPr sz="2100" b="0" dirty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экономии</a:t>
            </a:r>
            <a:r>
              <a:rPr sz="2100" b="0" dirty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памяти</a:t>
            </a:r>
            <a:r>
              <a:rPr sz="2100" b="0" dirty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нужно</a:t>
            </a:r>
            <a:r>
              <a:rPr sz="2100" b="0" dirty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включить</a:t>
            </a:r>
            <a:r>
              <a:rPr sz="2100" b="0" dirty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 chunking </a:t>
            </a:r>
            <a:r>
              <a:rPr sz="2100" b="0" dirty="0" err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через</a:t>
            </a:r>
            <a:r>
              <a:rPr sz="2100" b="0" dirty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 options.</a:t>
            </a:r>
          </a:p>
        </p:txBody>
      </p:sp>
    </p:spTree>
    <p:extLst>
      <p:ext uri="{BB962C8B-B14F-4D97-AF65-F5344CB8AC3E}">
        <p14:creationId xmlns:p14="http://schemas.microsoft.com/office/powerpoint/2010/main" val="11873312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125AFC4-C798-4989-AB6E-3BD83A22C68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572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ВОСПРОИЗВЕДЕНИЕ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1774B3F-29EC-4720-9166-39C279FB0ACE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Мои результаты на Qwen3.5-0.8B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76305CE-F394-41D8-ABE1-D1E48A40FB83}"/>
              </a:ext>
            </a:extLst>
          </p:cNvPr>
          <p:cNvSpPr>
            <a:spLocks noGrp="1"/>
          </p:cNvSpPr>
          <p:nvPr/>
        </p:nvSpPr>
        <p:spPr>
          <a:xfrm>
            <a:off x="11068050" y="6419850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66974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F4204BF-F1FF-4A37-A9DA-3DBC8FCE0330}"/>
              </a:ext>
            </a:extLst>
          </p:cNvPr>
          <p:cNvSpPr>
            <a:spLocks noGrp="1"/>
          </p:cNvSpPr>
          <p:nvPr/>
        </p:nvSpPr>
        <p:spPr>
          <a:xfrm>
            <a:off x="609600" y="1704975"/>
            <a:ext cx="6096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02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Прирост памяти головы</a:t>
            </a: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47C45CEF-C97E-4DAB-907B-881B49FBFAA2}"/>
              </a:ext>
            </a:extLst>
          </p:cNvPr>
          <p:cNvGraphicFramePr/>
          <p:nvPr/>
        </p:nvGraphicFramePr>
        <p:xfrm>
          <a:off x="609600" y="2181225"/>
          <a:ext cx="6276975" cy="3638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BABA76B-6CC5-4C26-A9EA-F7763CD70F1B}"/>
              </a:ext>
            </a:extLst>
          </p:cNvPr>
          <p:cNvSpPr>
            <a:spLocks noGrp="1"/>
          </p:cNvSpPr>
          <p:nvPr/>
        </p:nvSpPr>
        <p:spPr>
          <a:xfrm>
            <a:off x="7315200" y="1676400"/>
            <a:ext cx="4191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650" b="1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566974"/>
                </a:solidFill>
                <a:latin typeface="DejaVu Sans"/>
                <a:ea typeface="DejaVu Sans"/>
                <a:cs typeface="DejaVu Sans"/>
              </a:rPr>
              <a:t>PyTorch / Triton CCE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5663051-DA82-45BF-B51D-2FC39633F9F9}"/>
              </a:ext>
            </a:extLst>
          </p:cNvPr>
          <p:cNvSpPr>
            <a:spLocks noGrp="1"/>
          </p:cNvSpPr>
          <p:nvPr/>
        </p:nvSpPr>
        <p:spPr>
          <a:xfrm>
            <a:off x="7315200" y="2190750"/>
            <a:ext cx="4191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800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66974"/>
                </a:solidFill>
                <a:latin typeface="DejaVu Sans"/>
                <a:ea typeface="DejaVu Sans"/>
                <a:cs typeface="DejaVu Sans"/>
              </a:rPr>
              <a:t>2 048 токенов в голове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5D88AE6-E116-4BCC-9A2C-6ED931236379}"/>
              </a:ext>
            </a:extLst>
          </p:cNvPr>
          <p:cNvSpPr>
            <a:spLocks noGrp="1"/>
          </p:cNvSpPr>
          <p:nvPr/>
        </p:nvSpPr>
        <p:spPr>
          <a:xfrm>
            <a:off x="7315200" y="2657475"/>
            <a:ext cx="42481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550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5,684   /   0,545 GiB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A6512C4-7447-4076-98B6-F2E13FEE72CB}"/>
              </a:ext>
            </a:extLst>
          </p:cNvPr>
          <p:cNvSpPr>
            <a:spLocks noGrp="1"/>
          </p:cNvSpPr>
          <p:nvPr/>
        </p:nvSpPr>
        <p:spPr>
          <a:xfrm>
            <a:off x="7315200" y="3248025"/>
            <a:ext cx="42481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10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Экономия прироста 90,4%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B66222A-700E-4D19-B6EE-E7FD8087FF95}"/>
              </a:ext>
            </a:extLst>
          </p:cNvPr>
          <p:cNvSpPr>
            <a:spLocks noGrp="1"/>
          </p:cNvSpPr>
          <p:nvPr/>
        </p:nvSpPr>
        <p:spPr>
          <a:xfrm>
            <a:off x="7315200" y="4191000"/>
            <a:ext cx="419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800" b="0">
                <a:solidFill>
                  <a:srgbClr val="5669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66974"/>
                </a:solidFill>
                <a:latin typeface="DejaVu Sans"/>
                <a:ea typeface="DejaVu Sans"/>
                <a:cs typeface="DejaVu Sans"/>
              </a:rPr>
              <a:t>1 024 токена, вся модель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6B07FB2-1681-41A6-A786-670E4BE3F147}"/>
              </a:ext>
            </a:extLst>
          </p:cNvPr>
          <p:cNvSpPr>
            <a:spLocks noGrp="1"/>
          </p:cNvSpPr>
          <p:nvPr/>
        </p:nvSpPr>
        <p:spPr>
          <a:xfrm>
            <a:off x="7315200" y="4657725"/>
            <a:ext cx="4229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475" b="1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5,413   /   4,416 GiB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5810615-1E81-4721-B3C3-4FFA77BF9384}"/>
              </a:ext>
            </a:extLst>
          </p:cNvPr>
          <p:cNvSpPr>
            <a:spLocks noGrp="1"/>
          </p:cNvSpPr>
          <p:nvPr/>
        </p:nvSpPr>
        <p:spPr>
          <a:xfrm>
            <a:off x="7315200" y="5267325"/>
            <a:ext cx="42291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100" b="1">
                <a:solidFill>
                  <a:srgbClr val="008C7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8C7B"/>
                </a:solidFill>
                <a:latin typeface="DejaVu Sans"/>
                <a:ea typeface="DejaVu Sans"/>
                <a:cs typeface="DejaVu Sans"/>
              </a:rPr>
              <a:t>Снижение пика 18,4%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92FC1C7-5EDA-4039-98B5-114E9091E6E2}"/>
              </a:ext>
            </a:extLst>
          </p:cNvPr>
          <p:cNvSpPr>
            <a:spLocks noGrp="1"/>
          </p:cNvSpPr>
          <p:nvPr/>
        </p:nvSpPr>
        <p:spPr>
          <a:xfrm>
            <a:off x="609600" y="5848350"/>
            <a:ext cx="10953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725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Память Triton растёт всего на 7 MiB при 128–2 048 токенах.</a:t>
            </a:r>
          </a:p>
          <a:p>
            <a:pPr algn="l">
              <a:defRPr sz="1725" b="0">
                <a:solidFill>
                  <a:srgbClr val="152F3C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52F3C"/>
                </a:solidFill>
                <a:latin typeface="DejaVu Sans"/>
                <a:ea typeface="DejaVu Sans"/>
                <a:cs typeface="DejaVu Sans"/>
              </a:rPr>
              <a:t>Размер блока logits постоянный, увеличивается число блоков.</a:t>
            </a:r>
          </a:p>
        </p:txBody>
      </p:sp>
    </p:spTree>
    <p:extLst>
      <p:ext uri="{BB962C8B-B14F-4D97-AF65-F5344CB8AC3E}">
        <p14:creationId xmlns:p14="http://schemas.microsoft.com/office/powerpoint/2010/main" val="130989583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1177</Words>
  <Application>Microsoft Office PowerPoint</Application>
  <DocSecurity>0</DocSecurity>
  <PresentationFormat>Широкоэкранный</PresentationFormat>
  <Paragraphs>325</Paragraphs>
  <Slides>22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6" baseType="lpstr">
      <vt:lpstr>Aptos</vt:lpstr>
      <vt:lpstr>Calibri</vt:lpstr>
      <vt:lpstr>DejaVu Sans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Лемешев Игорь Русланович</cp:lastModifiedBy>
  <cp:revision>3</cp:revision>
  <dcterms:created xsi:type="dcterms:W3CDTF">2026-10-10T22:27:56Z</dcterms:created>
  <dcterms:modified xsi:type="dcterms:W3CDTF">2026-10-10T23:14:48Z</dcterms:modified>
</cp:coreProperties>
</file>